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0" r:id="rId4"/>
    <p:sldId id="278" r:id="rId5"/>
    <p:sldId id="281" r:id="rId6"/>
    <p:sldId id="258" r:id="rId7"/>
    <p:sldId id="259" r:id="rId8"/>
    <p:sldId id="273" r:id="rId9"/>
    <p:sldId id="260" r:id="rId10"/>
    <p:sldId id="261" r:id="rId11"/>
    <p:sldId id="262" r:id="rId12"/>
    <p:sldId id="263" r:id="rId13"/>
    <p:sldId id="274" r:id="rId14"/>
    <p:sldId id="264" r:id="rId15"/>
    <p:sldId id="265" r:id="rId16"/>
    <p:sldId id="266" r:id="rId17"/>
    <p:sldId id="267" r:id="rId18"/>
    <p:sldId id="268" r:id="rId19"/>
    <p:sldId id="275" r:id="rId20"/>
    <p:sldId id="276" r:id="rId21"/>
    <p:sldId id="277" r:id="rId22"/>
    <p:sldId id="269" r:id="rId23"/>
    <p:sldId id="270" r:id="rId24"/>
    <p:sldId id="271" r:id="rId25"/>
    <p:sldId id="27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11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211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ADAA9C9-0BF1-4802-BBC6-1591C918998A}"/>
              </a:ext>
            </a:extLst>
          </p:cNvPr>
          <p:cNvSpPr/>
          <p:nvPr userDrawn="1"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1828800"/>
            <a:ext cx="10972800" cy="69967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 dirty="0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Python </a:t>
            </a:r>
            <a:r>
              <a:rPr sz="4400" b="1" dirty="0" err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基礎觀念</a:t>
            </a:r>
            <a:endParaRPr sz="4400" b="1" dirty="0">
              <a:solidFill>
                <a:srgbClr val="F2F5FA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課程目錄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5A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566928" cy="749808"/>
          </a:xfrm>
          <a:prstGeom prst="rect">
            <a:avLst/>
          </a:prstGeom>
          <a:solidFill>
            <a:srgbClr val="0E1116"/>
          </a:solidFill>
          <a:ln w="2540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481328"/>
            <a:ext cx="10424160" cy="749808"/>
          </a:xfrm>
          <a:prstGeom prst="rect">
            <a:avLst/>
          </a:prstGeom>
          <a:solidFill>
            <a:srgbClr val="1A1F29"/>
          </a:solidFill>
          <a:ln w="15875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554480"/>
            <a:ext cx="6400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PY01 核心語法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01952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變數型別 · 條件 · for / while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75720" y="1591056"/>
            <a:ext cx="73152" cy="530352"/>
          </a:xfrm>
          <a:prstGeom prst="rect">
            <a:avLst/>
          </a:prstGeom>
          <a:solidFill>
            <a:srgbClr val="5A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322576"/>
            <a:ext cx="566928" cy="749808"/>
          </a:xfrm>
          <a:prstGeom prst="rect">
            <a:avLst/>
          </a:prstGeom>
          <a:solidFill>
            <a:srgbClr val="0E1116"/>
          </a:solidFill>
          <a:ln w="25400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2322576"/>
            <a:ext cx="10424160" cy="749808"/>
          </a:xfrm>
          <a:prstGeom prst="rect">
            <a:avLst/>
          </a:prstGeom>
          <a:solidFill>
            <a:srgbClr val="1A1F29"/>
          </a:solidFill>
          <a:ln w="15875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2395728"/>
            <a:ext cx="6400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PY02 資料結構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43200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清單與索引切片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75720" y="2432304"/>
            <a:ext cx="73152" cy="530352"/>
          </a:xfrm>
          <a:prstGeom prst="rect">
            <a:avLst/>
          </a:prstGeom>
          <a:solidFill>
            <a:srgbClr val="6FE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163824"/>
            <a:ext cx="566928" cy="749808"/>
          </a:xfrm>
          <a:prstGeom prst="rect">
            <a:avLst/>
          </a:prstGeom>
          <a:solidFill>
            <a:srgbClr val="0E1116"/>
          </a:solidFill>
          <a:ln w="254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" y="3163824"/>
            <a:ext cx="10424160" cy="749808"/>
          </a:xfrm>
          <a:prstGeom prst="rect">
            <a:avLst/>
          </a:prstGeom>
          <a:solidFill>
            <a:srgbClr val="1A1F29"/>
          </a:solidFill>
          <a:ln w="15875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3236976"/>
            <a:ext cx="6400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PY03 函式（最重要）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584448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def/return · 參數 · 純函式（關鍵字配色）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75720" y="3273552"/>
            <a:ext cx="73152" cy="530352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005072"/>
            <a:ext cx="566928" cy="749808"/>
          </a:xfrm>
          <a:prstGeom prst="rect">
            <a:avLst/>
          </a:prstGeom>
          <a:solidFill>
            <a:srgbClr val="0E1116"/>
          </a:solidFill>
          <a:ln w="25400">
            <a:solidFill>
              <a:srgbClr val="4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4FD6D6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4440" y="4005072"/>
            <a:ext cx="10424160" cy="749808"/>
          </a:xfrm>
          <a:prstGeom prst="rect">
            <a:avLst/>
          </a:prstGeom>
          <a:solidFill>
            <a:srgbClr val="1A1F29"/>
          </a:solidFill>
          <a:ln w="15875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63040" y="4078224"/>
            <a:ext cx="6400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PY04 NumPy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25696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np 是什麼 · 櫃子格與魔術方塊 tensor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75720" y="4114800"/>
            <a:ext cx="73152" cy="530352"/>
          </a:xfrm>
          <a:prstGeom prst="rect">
            <a:avLst/>
          </a:prstGeom>
          <a:solidFill>
            <a:srgbClr val="4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846320"/>
            <a:ext cx="566928" cy="749808"/>
          </a:xfrm>
          <a:prstGeom prst="rect">
            <a:avLst/>
          </a:prstGeom>
          <a:solidFill>
            <a:srgbClr val="0E1116"/>
          </a:solidFill>
          <a:ln w="25400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C79B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4440" y="4846320"/>
            <a:ext cx="10424160" cy="749808"/>
          </a:xfrm>
          <a:prstGeom prst="rect">
            <a:avLst/>
          </a:prstGeom>
          <a:solidFill>
            <a:srgbClr val="1A1F29"/>
          </a:solidFill>
          <a:ln w="15875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63040" y="4919472"/>
            <a:ext cx="6400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PY06 matplotlib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266944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兩種介面 · 圖的層次與元素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75720" y="4956048"/>
            <a:ext cx="73152" cy="530352"/>
          </a:xfrm>
          <a:prstGeom prst="rect">
            <a:avLst/>
          </a:prstGeom>
          <a:solidFill>
            <a:srgbClr val="C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5687568"/>
            <a:ext cx="566928" cy="749808"/>
          </a:xfrm>
          <a:prstGeom prst="rect">
            <a:avLst/>
          </a:prstGeom>
          <a:solidFill>
            <a:srgbClr val="0E1116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34440" y="5687568"/>
            <a:ext cx="10424160" cy="749808"/>
          </a:xfrm>
          <a:prstGeom prst="rect">
            <a:avLst/>
          </a:prstGeom>
          <a:solidFill>
            <a:srgbClr val="1A1F29"/>
          </a:solidFill>
          <a:ln w="15875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63040" y="5760720"/>
            <a:ext cx="6400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PY11 地理 / 圖論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6108192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向量幾何 shapely · 圖 networkx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75720" y="5797296"/>
            <a:ext cx="73152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01_py基礎教學（全六章導覽）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字方塊 19">
            <a:extLst>
              <a:ext uri="{FF2B5EF4-FFF2-40B4-BE49-F238E27FC236}">
                <a16:creationId xmlns:a16="http://schemas.microsoft.com/office/drawing/2014/main" id="{700F0D19-6AA9-445D-952A-43A6ABC3CB52}"/>
              </a:ext>
            </a:extLst>
          </p:cNvPr>
          <p:cNvSpPr txBox="1"/>
          <p:nvPr/>
        </p:nvSpPr>
        <p:spPr>
          <a:xfrm>
            <a:off x="2623668" y="434686"/>
            <a:ext cx="768096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endParaRPr lang="en-GB" altLang="zh-TW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endParaRPr lang="en-GB" altLang="zh-TW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endParaRPr lang="en-GB" altLang="zh-TW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endParaRPr lang="en-GB" altLang="zh-TW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altLang="zh-TW" sz="16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TW" altLang="en-US" sz="16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自動找 </a:t>
            </a:r>
            <a:r>
              <a:rPr lang="en-GB" altLang="zh-TW" sz="16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data </a:t>
            </a:r>
            <a:r>
              <a:rPr lang="zh-TW" altLang="en-US" sz="16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資料夾</a:t>
            </a:r>
            <a:endParaRPr lang="zh-TW" altLang="en-US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GB" altLang="zh-TW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CANDS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'../../</a:t>
            </a:r>
            <a:r>
              <a:rPr lang="en-GB" altLang="zh-TW" sz="16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workshop_build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altLang="zh-TW" sz="16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workshop_build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/09_advanced_ml/</a:t>
            </a:r>
            <a:r>
              <a:rPr lang="en-GB" altLang="zh-TW" sz="16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gan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/data'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altLang="zh-TW" sz="16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workshop_build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altLang="zh-TW" sz="16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workshop_build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/09_advanced_ml/</a:t>
            </a:r>
            <a:r>
              <a:rPr lang="en-GB" altLang="zh-TW" sz="16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gan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/data'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'data'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'../data'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'../../</a:t>
            </a:r>
            <a:r>
              <a:rPr lang="en-GB" altLang="zh-TW" sz="16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gan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/data'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GB" altLang="zh-TW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en-GB" altLang="zh-TW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guess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CANDS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altLang="zh-TW" sz="1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guess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altLang="zh-TW" sz="16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stakeholder_relations.parquet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)):</a:t>
            </a:r>
          </a:p>
          <a:p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altLang="zh-TW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guess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GB" altLang="zh-TW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GB" altLang="zh-TW" sz="16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zh-TW" altLang="en-US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資料夾：</a:t>
            </a:r>
            <a:r>
              <a:rPr lang="en-US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altLang="zh-TW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altLang="zh-TW" sz="1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read_parquet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altLang="zh-TW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altLang="zh-TW" sz="16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stakeholder_relations.parquet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GB" altLang="zh-TW" sz="16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zh-TW" altLang="en-US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資料形狀：</a:t>
            </a:r>
            <a:r>
              <a:rPr lang="en-US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altLang="zh-TW" sz="16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'(</a:t>
            </a:r>
            <a:r>
              <a:rPr lang="zh-TW" altLang="en-US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列 </a:t>
            </a:r>
            <a:r>
              <a:rPr lang="en-US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zh-TW" altLang="en-US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街區</a:t>
            </a:r>
            <a:r>
              <a:rPr lang="en-US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en-US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欄 </a:t>
            </a:r>
            <a:r>
              <a:rPr lang="en-US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zh-TW" altLang="en-US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特徵</a:t>
            </a:r>
            <a:r>
              <a:rPr lang="en-US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)'</a:t>
            </a:r>
            <a:r>
              <a:rPr lang="en-US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altLang="zh-TW" sz="16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4887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zh-TW" altLang="en-US" sz="3000" b="1" dirty="0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如何讀代碼</a:t>
            </a:r>
            <a:endParaRPr sz="3000" b="1" dirty="0">
              <a:solidFill>
                <a:srgbClr val="F2F5F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24528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ED1AA9C2-3696-490D-9065-7E59AA016331}"/>
              </a:ext>
            </a:extLst>
          </p:cNvPr>
          <p:cNvSpPr/>
          <p:nvPr/>
        </p:nvSpPr>
        <p:spPr>
          <a:xfrm>
            <a:off x="1284791" y="2125839"/>
            <a:ext cx="9641710" cy="2344562"/>
          </a:xfrm>
          <a:prstGeom prst="rect">
            <a:avLst/>
          </a:prstGeom>
          <a:noFill/>
          <a:ln w="3810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endParaRPr lang="zh-TW" altLang="en-US" sz="1600" b="1" dirty="0">
              <a:solidFill>
                <a:srgbClr val="F2F5FA"/>
              </a:solidFill>
              <a:latin typeface="Microsoft JhengHei"/>
              <a:ea typeface="Microsoft JhengHei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117C416-528C-47C7-9822-F28B1B512664}"/>
              </a:ext>
            </a:extLst>
          </p:cNvPr>
          <p:cNvSpPr/>
          <p:nvPr/>
        </p:nvSpPr>
        <p:spPr>
          <a:xfrm>
            <a:off x="1898248" y="2419934"/>
            <a:ext cx="8922152" cy="331569"/>
          </a:xfrm>
          <a:prstGeom prst="rect">
            <a:avLst/>
          </a:prstGeom>
          <a:noFill/>
          <a:ln w="3810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endParaRPr lang="zh-TW" altLang="en-US" sz="1600" b="1" dirty="0">
              <a:solidFill>
                <a:srgbClr val="FFD166"/>
              </a:solidFill>
              <a:latin typeface="Microsoft JhengHei"/>
              <a:ea typeface="Microsoft JhengHei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21194E7-1AAE-44EB-8278-47A75A3D91CF}"/>
              </a:ext>
            </a:extLst>
          </p:cNvPr>
          <p:cNvSpPr/>
          <p:nvPr/>
        </p:nvSpPr>
        <p:spPr>
          <a:xfrm>
            <a:off x="1898248" y="2985338"/>
            <a:ext cx="8922152" cy="858060"/>
          </a:xfrm>
          <a:prstGeom prst="rect">
            <a:avLst/>
          </a:prstGeom>
          <a:noFill/>
          <a:ln w="3810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endParaRPr lang="zh-TW" altLang="en-US" sz="1600" b="1" dirty="0">
              <a:solidFill>
                <a:srgbClr val="FFD166"/>
              </a:solidFill>
              <a:latin typeface="Microsoft JhengHei"/>
              <a:ea typeface="Microsoft JhengHei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F01600A-8957-499B-83EB-73591A3A5C66}"/>
              </a:ext>
            </a:extLst>
          </p:cNvPr>
          <p:cNvSpPr/>
          <p:nvPr/>
        </p:nvSpPr>
        <p:spPr>
          <a:xfrm>
            <a:off x="1898248" y="4001667"/>
            <a:ext cx="8922152" cy="363194"/>
          </a:xfrm>
          <a:prstGeom prst="rect">
            <a:avLst/>
          </a:prstGeom>
          <a:noFill/>
          <a:ln w="3810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endParaRPr lang="zh-TW" altLang="en-US" sz="1600" b="1" dirty="0">
              <a:solidFill>
                <a:srgbClr val="FFD166"/>
              </a:solidFill>
              <a:latin typeface="Microsoft JhengHei"/>
              <a:ea typeface="Microsoft JhengHei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2DB5B66-2FA8-4E2A-9398-043DF989422C}"/>
              </a:ext>
            </a:extLst>
          </p:cNvPr>
          <p:cNvSpPr/>
          <p:nvPr/>
        </p:nvSpPr>
        <p:spPr>
          <a:xfrm>
            <a:off x="1274992" y="4566107"/>
            <a:ext cx="9641710" cy="408891"/>
          </a:xfrm>
          <a:prstGeom prst="rect">
            <a:avLst/>
          </a:prstGeom>
          <a:noFill/>
          <a:ln w="3810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endParaRPr lang="zh-TW" altLang="en-US" sz="1600" b="1" dirty="0">
              <a:solidFill>
                <a:srgbClr val="F2F5FA"/>
              </a:solidFill>
              <a:latin typeface="Microsoft JhengHei"/>
              <a:ea typeface="Microsoft Jheng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670A40E-38D3-402B-A0F9-B194CEE41F2D}"/>
              </a:ext>
            </a:extLst>
          </p:cNvPr>
          <p:cNvSpPr/>
          <p:nvPr/>
        </p:nvSpPr>
        <p:spPr>
          <a:xfrm>
            <a:off x="1274992" y="1569899"/>
            <a:ext cx="9641710" cy="408891"/>
          </a:xfrm>
          <a:prstGeom prst="rect">
            <a:avLst/>
          </a:prstGeom>
          <a:noFill/>
          <a:ln w="3810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endParaRPr lang="zh-TW" altLang="en-US" sz="1600" b="1" dirty="0">
              <a:solidFill>
                <a:srgbClr val="F2F5FA"/>
              </a:solidFill>
              <a:latin typeface="Microsoft JhengHei"/>
              <a:ea typeface="Microsoft JhengHei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1F38D572-BAC7-453F-9341-EF6A93BF85A6}"/>
              </a:ext>
            </a:extLst>
          </p:cNvPr>
          <p:cNvSpPr txBox="1"/>
          <p:nvPr/>
        </p:nvSpPr>
        <p:spPr>
          <a:xfrm>
            <a:off x="1371600" y="1558678"/>
            <a:ext cx="10515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TW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GB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altLang="zh-TW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                      </a:t>
            </a:r>
            <a:r>
              <a:rPr lang="en-GB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TW" alt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第 </a:t>
            </a:r>
            <a:r>
              <a:rPr lang="en-US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lang="zh-TW" alt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層縮排開始</a:t>
            </a:r>
            <a:endParaRPr lang="zh-TW" alt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zh-TW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altLang="zh-TW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altLang="zh-TW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GB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TW" alt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外層第 </a:t>
            </a:r>
            <a:r>
              <a:rPr lang="en-US" altLang="zh-TW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GB" altLang="zh-TW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altLang="zh-TW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GB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圈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             </a:t>
            </a:r>
            <a:r>
              <a:rPr lang="en-US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← </a:t>
            </a:r>
            <a:r>
              <a:rPr lang="zh-TW" alt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縮排 </a:t>
            </a:r>
            <a:r>
              <a:rPr lang="en-US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lang="zh-TW" alt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層，屬於外層 </a:t>
            </a:r>
            <a:r>
              <a:rPr lang="en-GB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for</a:t>
            </a:r>
            <a:endParaRPr lang="en-GB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altLang="zh-TW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                  </a:t>
            </a:r>
            <a:r>
              <a:rPr lang="en-GB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← </a:t>
            </a:r>
            <a:r>
              <a:rPr lang="zh-TW" alt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縮排 </a:t>
            </a:r>
            <a:r>
              <a:rPr lang="en-US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lang="zh-TW" alt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層，外層 </a:t>
            </a:r>
            <a:r>
              <a:rPr lang="en-GB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lang="zh-TW" alt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裡的內層 </a:t>
            </a:r>
            <a:r>
              <a:rPr lang="en-GB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for</a:t>
            </a:r>
            <a:endParaRPr lang="en-GB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altLang="zh-TW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                </a:t>
            </a:r>
            <a:r>
              <a:rPr lang="en-GB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← </a:t>
            </a:r>
            <a:r>
              <a:rPr lang="zh-TW" alt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縮排 </a:t>
            </a:r>
            <a:r>
              <a:rPr lang="en-US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zh-TW" alt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層，屬於內層 </a:t>
            </a:r>
            <a:r>
              <a:rPr lang="en-GB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for</a:t>
            </a:r>
            <a:endParaRPr lang="en-GB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altLang="zh-TW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altLang="zh-TW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GB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    j=</a:t>
            </a:r>
            <a:r>
              <a:rPr lang="en-GB" altLang="zh-TW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GB" altLang="zh-TW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GB" altLang="zh-TW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GB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, total=</a:t>
            </a:r>
            <a:r>
              <a:rPr lang="en-GB" altLang="zh-TW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GB" altLang="zh-TW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GB" altLang="zh-TW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GB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GB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← </a:t>
            </a:r>
            <a:r>
              <a:rPr lang="zh-TW" alt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縮排 </a:t>
            </a:r>
            <a:r>
              <a:rPr lang="en-US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zh-TW" alt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層</a:t>
            </a:r>
            <a:endParaRPr lang="zh-TW" alt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zh-TW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zh-TW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altLang="zh-TW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TW" alt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外圈結束</a:t>
            </a:r>
            <a:r>
              <a:rPr lang="en-US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                   </a:t>
            </a:r>
            <a:r>
              <a:rPr lang="en-US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← </a:t>
            </a:r>
            <a:r>
              <a:rPr lang="zh-TW" alt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回到縮排 </a:t>
            </a:r>
            <a:r>
              <a:rPr lang="en-US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lang="zh-TW" alt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層，又屬於外層 </a:t>
            </a:r>
            <a:r>
              <a:rPr lang="en-GB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for</a:t>
            </a:r>
            <a:endParaRPr lang="en-GB" altLang="zh-TW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altLang="zh-TW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altLang="zh-TW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GB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altLang="zh-TW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zh-TW" alt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最後 </a:t>
            </a:r>
            <a:r>
              <a:rPr lang="en-GB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total = </a:t>
            </a:r>
            <a:r>
              <a:rPr lang="en-GB" altLang="zh-TW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GB" altLang="zh-TW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GB" altLang="zh-TW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GB" altLang="zh-TW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altLang="zh-TW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       </a:t>
            </a:r>
            <a:r>
              <a:rPr lang="en-GB" altLang="zh-TW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← </a:t>
            </a:r>
            <a:r>
              <a:rPr lang="zh-TW" alt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沒縮排，迴圈全部跑完才執行</a:t>
            </a:r>
            <a:endParaRPr lang="zh-TW" alt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4887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zh-TW" altLang="en-US" sz="3000" b="1" dirty="0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如何讀代碼</a:t>
            </a:r>
            <a:endParaRPr sz="3000" b="1" dirty="0">
              <a:solidFill>
                <a:srgbClr val="F2F5F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5997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字方塊 19">
            <a:extLst>
              <a:ext uri="{FF2B5EF4-FFF2-40B4-BE49-F238E27FC236}">
                <a16:creationId xmlns:a16="http://schemas.microsoft.com/office/drawing/2014/main" id="{700F0D19-6AA9-445D-952A-43A6ABC3CB52}"/>
              </a:ext>
            </a:extLst>
          </p:cNvPr>
          <p:cNvSpPr txBox="1"/>
          <p:nvPr/>
        </p:nvSpPr>
        <p:spPr>
          <a:xfrm>
            <a:off x="2623668" y="434686"/>
            <a:ext cx="768096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endParaRPr lang="en-GB" altLang="zh-TW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endParaRPr lang="en-GB" altLang="zh-TW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endParaRPr lang="en-GB" altLang="zh-TW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endParaRPr lang="en-GB" altLang="zh-TW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altLang="zh-TW" sz="16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TW" altLang="en-US" sz="16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自動找 </a:t>
            </a:r>
            <a:r>
              <a:rPr lang="en-GB" altLang="zh-TW" sz="16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data </a:t>
            </a:r>
            <a:r>
              <a:rPr lang="zh-TW" altLang="en-US" sz="16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資料夾</a:t>
            </a:r>
            <a:endParaRPr lang="zh-TW" altLang="en-US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GB" altLang="zh-TW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CANDS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'../../</a:t>
            </a:r>
            <a:r>
              <a:rPr lang="en-GB" altLang="zh-TW" sz="16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workshop_build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altLang="zh-TW" sz="16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workshop_build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/09_advanced_ml/</a:t>
            </a:r>
            <a:r>
              <a:rPr lang="en-GB" altLang="zh-TW" sz="16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gan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/data'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altLang="zh-TW" sz="16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workshop_build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altLang="zh-TW" sz="16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workshop_build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/09_advanced_ml/</a:t>
            </a:r>
            <a:r>
              <a:rPr lang="en-GB" altLang="zh-TW" sz="16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gan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/data'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'data'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'../data'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'../../</a:t>
            </a:r>
            <a:r>
              <a:rPr lang="en-GB" altLang="zh-TW" sz="16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gan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/data'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GB" altLang="zh-TW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en-GB" altLang="zh-TW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guess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CANDS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altLang="zh-TW" sz="1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guess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altLang="zh-TW" sz="16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stakeholder_relations.parquet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)):</a:t>
            </a:r>
          </a:p>
          <a:p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altLang="zh-TW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guess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altLang="zh-TW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GB" altLang="zh-TW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GB" altLang="zh-TW" sz="16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zh-TW" altLang="en-US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資料夾：</a:t>
            </a:r>
            <a:r>
              <a:rPr lang="en-US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altLang="zh-TW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altLang="zh-TW" sz="1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read_parquet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altLang="zh-TW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altLang="zh-TW" sz="16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stakeholder_relations.parquet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GB" altLang="zh-TW" sz="16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zh-TW" altLang="en-US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資料形狀：</a:t>
            </a:r>
            <a:r>
              <a:rPr lang="en-US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altLang="zh-TW" sz="16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'(</a:t>
            </a:r>
            <a:r>
              <a:rPr lang="zh-TW" altLang="en-US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列 </a:t>
            </a:r>
            <a:r>
              <a:rPr lang="en-US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zh-TW" altLang="en-US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街區</a:t>
            </a:r>
            <a:r>
              <a:rPr lang="en-US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en-US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欄 </a:t>
            </a:r>
            <a:r>
              <a:rPr lang="en-US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zh-TW" altLang="en-US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特徵</a:t>
            </a:r>
            <a:r>
              <a:rPr lang="en-US" altLang="zh-TW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)'</a:t>
            </a:r>
            <a:r>
              <a:rPr lang="en-US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altLang="zh-TW" sz="16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GB" altLang="zh-TW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altLang="zh-TW" sz="16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GB" altLang="zh-TW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4887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zh-TW" altLang="en-US" sz="3000" b="1" dirty="0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如何讀代碼</a:t>
            </a:r>
            <a:endParaRPr sz="3000" b="1" dirty="0">
              <a:solidFill>
                <a:srgbClr val="F2F5F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5EF5687-C267-4BFC-9086-03675D26A5E1}"/>
              </a:ext>
            </a:extLst>
          </p:cNvPr>
          <p:cNvSpPr/>
          <p:nvPr/>
        </p:nvSpPr>
        <p:spPr>
          <a:xfrm>
            <a:off x="2623668" y="454300"/>
            <a:ext cx="3586480" cy="99858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endParaRPr lang="zh-TW" altLang="en-US" sz="1600" b="1" dirty="0">
              <a:solidFill>
                <a:srgbClr val="F2F5FA"/>
              </a:solidFill>
              <a:latin typeface="Microsoft JhengHei"/>
              <a:ea typeface="Microsoft Jheng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775237D-DE76-42EA-BB99-FB2F3329CE82}"/>
              </a:ext>
            </a:extLst>
          </p:cNvPr>
          <p:cNvSpPr/>
          <p:nvPr/>
        </p:nvSpPr>
        <p:spPr>
          <a:xfrm>
            <a:off x="2623668" y="1976484"/>
            <a:ext cx="7447280" cy="1376316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endParaRPr lang="zh-TW" altLang="en-US" sz="1600" b="1" dirty="0">
              <a:solidFill>
                <a:srgbClr val="F2F5FA"/>
              </a:solidFill>
              <a:latin typeface="Microsoft JhengHei"/>
              <a:ea typeface="Microsoft Jheng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9F3B382-B304-463D-AFBD-49C1B6CBA0E1}"/>
              </a:ext>
            </a:extLst>
          </p:cNvPr>
          <p:cNvSpPr/>
          <p:nvPr/>
        </p:nvSpPr>
        <p:spPr>
          <a:xfrm>
            <a:off x="2623668" y="3396692"/>
            <a:ext cx="7447280" cy="982268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endParaRPr lang="zh-TW" altLang="en-US" sz="1600" b="1" dirty="0">
              <a:solidFill>
                <a:srgbClr val="F2F5FA"/>
              </a:solidFill>
              <a:latin typeface="Microsoft JhengHei"/>
              <a:ea typeface="Microsoft Jheng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6999E37-36A9-4F86-A879-DB21BDBB0963}"/>
              </a:ext>
            </a:extLst>
          </p:cNvPr>
          <p:cNvSpPr/>
          <p:nvPr/>
        </p:nvSpPr>
        <p:spPr>
          <a:xfrm>
            <a:off x="2623668" y="4422852"/>
            <a:ext cx="7447280" cy="161612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endParaRPr lang="zh-TW" altLang="en-US" sz="1600" b="1" dirty="0">
              <a:solidFill>
                <a:srgbClr val="F2F5FA"/>
              </a:solidFill>
              <a:latin typeface="Microsoft JhengHei"/>
              <a:ea typeface="Microsoft Jheng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F7B777-BC34-445D-96F0-A57A3D70F859}"/>
              </a:ext>
            </a:extLst>
          </p:cNvPr>
          <p:cNvSpPr/>
          <p:nvPr/>
        </p:nvSpPr>
        <p:spPr>
          <a:xfrm>
            <a:off x="2623668" y="4843906"/>
            <a:ext cx="7447280" cy="490094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endParaRPr lang="zh-TW" altLang="en-US" sz="1600" b="1" dirty="0">
              <a:solidFill>
                <a:srgbClr val="F2F5FA"/>
              </a:solidFill>
              <a:latin typeface="Microsoft JhengHei"/>
              <a:ea typeface="Microsoft Jheng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139525E-37C8-44CD-A3A7-09B43F8F3855}"/>
              </a:ext>
            </a:extLst>
          </p:cNvPr>
          <p:cNvSpPr/>
          <p:nvPr/>
        </p:nvSpPr>
        <p:spPr>
          <a:xfrm>
            <a:off x="2623668" y="5381468"/>
            <a:ext cx="7447280" cy="161612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endParaRPr lang="zh-TW" altLang="en-US" sz="1600" b="1" dirty="0">
              <a:solidFill>
                <a:srgbClr val="F2F5FA"/>
              </a:solidFill>
              <a:latin typeface="Microsoft JhengHei"/>
              <a:ea typeface="Microsoft Jheng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92DB0DD-207C-4384-98C7-C4C32B691192}"/>
              </a:ext>
            </a:extLst>
          </p:cNvPr>
          <p:cNvSpPr/>
          <p:nvPr/>
        </p:nvSpPr>
        <p:spPr>
          <a:xfrm>
            <a:off x="2623668" y="5622456"/>
            <a:ext cx="7447280" cy="161612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endParaRPr lang="zh-TW" altLang="en-US" sz="1600" b="1" dirty="0">
              <a:solidFill>
                <a:srgbClr val="F2F5FA"/>
              </a:solidFill>
              <a:latin typeface="Microsoft JhengHei"/>
              <a:ea typeface="Microsoft JhengHe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3A9F5BD-72BE-409F-97EC-0BB7FAB40AC1}"/>
              </a:ext>
            </a:extLst>
          </p:cNvPr>
          <p:cNvSpPr txBox="1"/>
          <p:nvPr/>
        </p:nvSpPr>
        <p:spPr>
          <a:xfrm>
            <a:off x="1267685" y="8689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匯入工具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D7D5FC3-F48D-46ED-B125-D8FEF21C2EE2}"/>
              </a:ext>
            </a:extLst>
          </p:cNvPr>
          <p:cNvSpPr txBox="1"/>
          <p:nvPr/>
        </p:nvSpPr>
        <p:spPr>
          <a:xfrm>
            <a:off x="1267685" y="247997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定義變數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1C2668F-2914-4C93-8A9E-FCD2D932AC3E}"/>
              </a:ext>
            </a:extLst>
          </p:cNvPr>
          <p:cNvSpPr txBox="1"/>
          <p:nvPr/>
        </p:nvSpPr>
        <p:spPr>
          <a:xfrm>
            <a:off x="1267685" y="370235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執行迴圈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59F5376-70A9-4F7E-AC0F-4EF9F8828953}"/>
              </a:ext>
            </a:extLst>
          </p:cNvPr>
          <p:cNvSpPr txBox="1"/>
          <p:nvPr/>
        </p:nvSpPr>
        <p:spPr>
          <a:xfrm>
            <a:off x="1267685" y="437869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打印輸出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3F1AC44-9FB0-4B4B-9E32-4EC9D105D9CF}"/>
              </a:ext>
            </a:extLst>
          </p:cNvPr>
          <p:cNvSpPr txBox="1"/>
          <p:nvPr/>
        </p:nvSpPr>
        <p:spPr>
          <a:xfrm>
            <a:off x="1267685" y="506078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做一個動作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DC757F3-14F6-4BA8-A67C-CE72435057C0}"/>
              </a:ext>
            </a:extLst>
          </p:cNvPr>
          <p:cNvSpPr txBox="1"/>
          <p:nvPr/>
        </p:nvSpPr>
        <p:spPr>
          <a:xfrm>
            <a:off x="1267685" y="533169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打印輸出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02ABEBB-55B5-4995-AA08-22E6049421D2}"/>
              </a:ext>
            </a:extLst>
          </p:cNvPr>
          <p:cNvSpPr txBox="1"/>
          <p:nvPr/>
        </p:nvSpPr>
        <p:spPr>
          <a:xfrm>
            <a:off x="1267685" y="566673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做一個動作</a:t>
            </a:r>
          </a:p>
        </p:txBody>
      </p:sp>
    </p:spTree>
    <p:extLst>
      <p:ext uri="{BB962C8B-B14F-4D97-AF65-F5344CB8AC3E}">
        <p14:creationId xmlns:p14="http://schemas.microsoft.com/office/powerpoint/2010/main" val="2048735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1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2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變數、型別與註解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5A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VARIABLE / TYPE / COMMENT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PY01_核心語法.ipynb · 變數、型別與註解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name = "</a:t>
            </a:r>
            <a:r>
              <a:rPr sz="1600" b="1" dirty="0" err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林小明</a:t>
            </a: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"      </a:t>
            </a:r>
            <a:r>
              <a:rPr sz="1600" b="1" dirty="0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str </a:t>
            </a:r>
            <a:r>
              <a:rPr sz="1600" b="1" dirty="0" err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文字</a:t>
            </a:r>
            <a:endParaRPr sz="1600" b="1" dirty="0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age = 21            </a:t>
            </a:r>
            <a:r>
              <a:rPr sz="1600" b="1" dirty="0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int </a:t>
            </a:r>
            <a:r>
              <a:rPr sz="1600" b="1" dirty="0" err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整數</a:t>
            </a:r>
            <a:endParaRPr sz="1600" b="1" dirty="0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height = 173.5      </a:t>
            </a:r>
            <a:r>
              <a:rPr sz="1600" b="1" dirty="0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float </a:t>
            </a:r>
            <a:r>
              <a:rPr sz="1600" b="1" dirty="0" err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小數</a:t>
            </a:r>
            <a:endParaRPr sz="1600" b="1" dirty="0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 err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is_student</a:t>
            </a: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= True   </a:t>
            </a:r>
            <a:r>
              <a:rPr sz="1600" b="1" dirty="0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bool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 dirty="0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print(type(age))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 dirty="0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</a:t>
            </a:r>
            <a:r>
              <a:rPr sz="1600" b="1" dirty="0" err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同一名稱可改綁不同型別</a:t>
            </a:r>
            <a:endParaRPr sz="1600" b="1" dirty="0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age = "</a:t>
            </a:r>
            <a:r>
              <a:rPr sz="1600" b="1" dirty="0" err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二十一</a:t>
            </a: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"       </a:t>
            </a:r>
            <a:r>
              <a:rPr sz="1600" b="1" dirty="0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int </a:t>
            </a:r>
            <a:r>
              <a:rPr sz="1600" b="1" dirty="0" err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改綁</a:t>
            </a:r>
            <a:r>
              <a:rPr sz="1600" b="1" dirty="0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 str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2AA527-EE92-428D-9968-3F206FF7E9DA}"/>
              </a:ext>
            </a:extLst>
          </p:cNvPr>
          <p:cNvSpPr/>
          <p:nvPr/>
        </p:nvSpPr>
        <p:spPr>
          <a:xfrm>
            <a:off x="6908800" y="2265680"/>
            <a:ext cx="1463040" cy="90424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lang="en-US" altLang="zh-TW" sz="1600" b="1">
                <a:solidFill>
                  <a:srgbClr val="C79BFF"/>
                </a:solidFill>
                <a:latin typeface="Microsoft JhengHei"/>
                <a:ea typeface="Microsoft JhengHei"/>
              </a:rPr>
              <a:t>b</a:t>
            </a:r>
            <a:r>
              <a:rPr lang="en-US" altLang="zh-TW" sz="1600" b="1" dirty="0">
                <a:solidFill>
                  <a:srgbClr val="C79BFF"/>
                </a:solidFill>
                <a:latin typeface="Microsoft JhengHei"/>
                <a:ea typeface="Microsoft JhengHei"/>
              </a:rPr>
              <a:t>ool </a:t>
            </a:r>
            <a:endParaRPr lang="zh-TW" altLang="en-US" sz="1600" b="1" dirty="0">
              <a:solidFill>
                <a:srgbClr val="C79BFF"/>
              </a:solidFill>
              <a:latin typeface="Microsoft JhengHei"/>
              <a:ea typeface="Microsoft Jheng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CB6B2D-EA19-45FE-A4D4-5CB7C8926072}"/>
              </a:ext>
            </a:extLst>
          </p:cNvPr>
          <p:cNvSpPr/>
          <p:nvPr/>
        </p:nvSpPr>
        <p:spPr>
          <a:xfrm>
            <a:off x="9555480" y="2247392"/>
            <a:ext cx="1463040" cy="904240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lang="en-US" altLang="zh-TW" b="1">
                <a:solidFill>
                  <a:srgbClr val="6FE36F"/>
                </a:solidFill>
                <a:latin typeface="Microsoft JhengHei"/>
                <a:ea typeface="Microsoft JhengHei"/>
              </a:rPr>
              <a:t>str</a:t>
            </a:r>
            <a:endParaRPr lang="zh-TW" altLang="en-US" b="1" dirty="0">
              <a:solidFill>
                <a:srgbClr val="6FE36F"/>
              </a:solidFill>
              <a:latin typeface="Microsoft JhengHei"/>
              <a:ea typeface="Microsoft Jheng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5EF5687-C267-4BFC-9086-03675D26A5E1}"/>
              </a:ext>
            </a:extLst>
          </p:cNvPr>
          <p:cNvSpPr/>
          <p:nvPr/>
        </p:nvSpPr>
        <p:spPr>
          <a:xfrm>
            <a:off x="6908800" y="4100576"/>
            <a:ext cx="1463040" cy="90424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lang="en-US" altLang="zh-TW" sz="1600" b="1" dirty="0">
                <a:solidFill>
                  <a:srgbClr val="F2F5FA"/>
                </a:solidFill>
                <a:latin typeface="Microsoft JhengHei"/>
                <a:ea typeface="Microsoft JhengHei"/>
              </a:rPr>
              <a:t>int</a:t>
            </a:r>
            <a:endParaRPr lang="zh-TW" altLang="en-US" sz="1600" b="1" dirty="0">
              <a:solidFill>
                <a:srgbClr val="F2F5FA"/>
              </a:solidFill>
              <a:latin typeface="Microsoft JhengHei"/>
              <a:ea typeface="Microsoft Jheng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72A06C-6EF2-43BB-AED7-1735B57F6DB7}"/>
              </a:ext>
            </a:extLst>
          </p:cNvPr>
          <p:cNvSpPr/>
          <p:nvPr/>
        </p:nvSpPr>
        <p:spPr>
          <a:xfrm>
            <a:off x="9555480" y="4082288"/>
            <a:ext cx="1463040" cy="904240"/>
          </a:xfrm>
          <a:prstGeom prst="rect">
            <a:avLst/>
          </a:prstGeom>
          <a:solidFill>
            <a:srgbClr val="322910"/>
          </a:solidFill>
          <a:ln w="15875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lang="en-US" altLang="zh-TW" sz="1600" b="1" dirty="0">
                <a:solidFill>
                  <a:srgbClr val="FFD166"/>
                </a:solidFill>
                <a:latin typeface="Microsoft JhengHei"/>
                <a:ea typeface="Microsoft JhengHei"/>
              </a:rPr>
              <a:t>float</a:t>
            </a:r>
            <a:endParaRPr lang="zh-TW" altLang="en-US" sz="1600" b="1" dirty="0">
              <a:solidFill>
                <a:srgbClr val="FFD166"/>
              </a:solidFill>
              <a:latin typeface="Microsoft JhengHei"/>
              <a:ea typeface="Microsoft JhengHei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DC954BB-2D3D-4065-A37D-C40FF358C5C7}"/>
              </a:ext>
            </a:extLst>
          </p:cNvPr>
          <p:cNvSpPr txBox="1"/>
          <p:nvPr/>
        </p:nvSpPr>
        <p:spPr>
          <a:xfrm>
            <a:off x="10119360" y="1778556"/>
            <a:ext cx="1036320" cy="369332"/>
          </a:xfrm>
          <a:prstGeom prst="rect">
            <a:avLst/>
          </a:prstGeom>
          <a:noFill/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>
            <a:defPPr>
              <a:defRPr lang="en-US"/>
            </a:defPPr>
            <a:lvl1pPr algn="ctr">
              <a:spcAft>
                <a:spcPts val="100"/>
              </a:spcAft>
              <a:defRPr b="1">
                <a:solidFill>
                  <a:srgbClr val="6FE36F"/>
                </a:solidFill>
                <a:latin typeface="Microsoft JhengHei"/>
                <a:ea typeface="Microsoft JhengHei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dirty="0"/>
              <a:t>林小明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6A66B66-424C-491D-A620-DD795CF50126}"/>
              </a:ext>
            </a:extLst>
          </p:cNvPr>
          <p:cNvSpPr txBox="1"/>
          <p:nvPr/>
        </p:nvSpPr>
        <p:spPr>
          <a:xfrm>
            <a:off x="7452360" y="3666284"/>
            <a:ext cx="1036320" cy="369332"/>
          </a:xfrm>
          <a:prstGeom prst="rect">
            <a:avLst/>
          </a:prstGeom>
          <a:noFill/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>
            <a:defPPr>
              <a:defRPr lang="en-US"/>
            </a:defPPr>
            <a:lvl1pPr algn="ctr">
              <a:spcAft>
                <a:spcPts val="100"/>
              </a:spcAft>
              <a:defRPr sz="1600" b="1">
                <a:solidFill>
                  <a:srgbClr val="F2F5FA"/>
                </a:solidFill>
                <a:latin typeface="Microsoft JhengHei"/>
                <a:ea typeface="Microsoft JhengHei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dirty="0"/>
              <a:t>21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BC472B5-3CED-4009-B89E-E7C3C0BAF5C4}"/>
              </a:ext>
            </a:extLst>
          </p:cNvPr>
          <p:cNvSpPr txBox="1"/>
          <p:nvPr/>
        </p:nvSpPr>
        <p:spPr>
          <a:xfrm>
            <a:off x="10070592" y="3658092"/>
            <a:ext cx="1036320" cy="369332"/>
          </a:xfrm>
          <a:prstGeom prst="rect">
            <a:avLst/>
          </a:prstGeom>
          <a:noFill/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>
            <a:defPPr>
              <a:defRPr lang="en-US"/>
            </a:defPPr>
            <a:lvl1pPr algn="ctr">
              <a:spcAft>
                <a:spcPts val="100"/>
              </a:spcAft>
              <a:defRPr b="1">
                <a:solidFill>
                  <a:srgbClr val="6FE36F"/>
                </a:solidFill>
                <a:latin typeface="Microsoft JhengHei"/>
                <a:ea typeface="Microsoft JhengHei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sz="1600" dirty="0">
                <a:solidFill>
                  <a:srgbClr val="FFD166"/>
                </a:solidFill>
              </a:rPr>
              <a:t>21.0</a:t>
            </a:r>
            <a:endParaRPr lang="zh-TW" altLang="en-US" sz="1600" dirty="0">
              <a:solidFill>
                <a:srgbClr val="FFD166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4FE7F9B-ABA8-4205-BE39-BB3BF81806F8}"/>
              </a:ext>
            </a:extLst>
          </p:cNvPr>
          <p:cNvSpPr txBox="1"/>
          <p:nvPr/>
        </p:nvSpPr>
        <p:spPr>
          <a:xfrm>
            <a:off x="7345680" y="1873996"/>
            <a:ext cx="1036320" cy="369332"/>
          </a:xfrm>
          <a:prstGeom prst="rect">
            <a:avLst/>
          </a:prstGeom>
          <a:noFill/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>
            <a:defPPr>
              <a:defRPr lang="en-US"/>
            </a:defPPr>
            <a:lvl1pPr algn="ctr">
              <a:spcAft>
                <a:spcPts val="100"/>
              </a:spcAft>
              <a:defRPr sz="1600" b="1">
                <a:solidFill>
                  <a:srgbClr val="C79BFF"/>
                </a:solidFill>
                <a:latin typeface="Microsoft JhengHei"/>
                <a:ea typeface="Microsoft JhengHei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altLang="zh-TW" dirty="0"/>
              <a:t>True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條件判斷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IF / ELIF / ELSE · TRUTHINESS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PY01_核心語法.ipynb · 條件判斷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score = 76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if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score &gt;= 90: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grade = "A"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elif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score &gt;= 80: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grade = "B"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elif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score &gt;= 60: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grade = "C"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else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grade = "F"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真值測試：空字串視為假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if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user_input: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...</a:t>
            </a:r>
          </a:p>
        </p:txBody>
      </p:sp>
      <p:sp>
        <p:nvSpPr>
          <p:cNvPr id="15" name="Diamond 14"/>
          <p:cNvSpPr/>
          <p:nvPr/>
        </p:nvSpPr>
        <p:spPr>
          <a:xfrm>
            <a:off x="8092440" y="1865376"/>
            <a:ext cx="1737360" cy="685800"/>
          </a:xfrm>
          <a:prstGeom prst="diamond">
            <a:avLst/>
          </a:prstGeom>
          <a:solidFill>
            <a:srgbClr val="322910"/>
          </a:solidFill>
          <a:ln w="15875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C14E"/>
                </a:solidFill>
                <a:latin typeface="Microsoft JhengHei"/>
                <a:ea typeface="Microsoft JhengHei"/>
                <a:cs typeface="Microsoft JhengHei"/>
              </a:rPr>
              <a:t>≥90 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72344" y="1911096"/>
            <a:ext cx="1188720" cy="56692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 dirty="0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cxnSp>
        <p:nvCxnSpPr>
          <p:cNvPr id="17" name="Connector 16"/>
          <p:cNvCxnSpPr>
            <a:cxnSpLocks/>
            <a:stCxn id="15" idx="3"/>
            <a:endCxn id="16" idx="1"/>
          </p:cNvCxnSpPr>
          <p:nvPr/>
        </p:nvCxnSpPr>
        <p:spPr>
          <a:xfrm flipV="1">
            <a:off x="9829800" y="2194560"/>
            <a:ext cx="542544" cy="13716"/>
          </a:xfrm>
          <a:prstGeom prst="line">
            <a:avLst/>
          </a:prstGeom>
          <a:ln w="28575">
            <a:solidFill>
              <a:srgbClr val="6FE3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8092440" y="3273552"/>
            <a:ext cx="1737360" cy="640080"/>
          </a:xfrm>
          <a:prstGeom prst="diamond">
            <a:avLst/>
          </a:prstGeom>
          <a:solidFill>
            <a:srgbClr val="322910"/>
          </a:solidFill>
          <a:ln w="15875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C14E"/>
                </a:solidFill>
                <a:latin typeface="Microsoft JhengHei"/>
                <a:ea typeface="Microsoft JhengHei"/>
                <a:cs typeface="Microsoft JhengHei"/>
              </a:rPr>
              <a:t>≥80 ?</a:t>
            </a:r>
          </a:p>
        </p:txBody>
      </p:sp>
      <p:cxnSp>
        <p:nvCxnSpPr>
          <p:cNvPr id="19" name="Connector 18"/>
          <p:cNvCxnSpPr>
            <a:cxnSpLocks/>
            <a:stCxn id="15" idx="2"/>
            <a:endCxn id="18" idx="0"/>
          </p:cNvCxnSpPr>
          <p:nvPr/>
        </p:nvCxnSpPr>
        <p:spPr>
          <a:xfrm>
            <a:off x="8961120" y="2551176"/>
            <a:ext cx="0" cy="722376"/>
          </a:xfrm>
          <a:prstGeom prst="line">
            <a:avLst/>
          </a:prstGeom>
          <a:ln w="28575">
            <a:solidFill>
              <a:srgbClr val="9AA4B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372344" y="3319272"/>
            <a:ext cx="1188720" cy="548640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cxnSp>
        <p:nvCxnSpPr>
          <p:cNvPr id="21" name="Connector 20"/>
          <p:cNvCxnSpPr>
            <a:cxnSpLocks/>
            <a:stCxn id="18" idx="3"/>
            <a:endCxn id="20" idx="1"/>
          </p:cNvCxnSpPr>
          <p:nvPr/>
        </p:nvCxnSpPr>
        <p:spPr>
          <a:xfrm>
            <a:off x="9829800" y="3593592"/>
            <a:ext cx="542544" cy="0"/>
          </a:xfrm>
          <a:prstGeom prst="line">
            <a:avLst/>
          </a:prstGeom>
          <a:ln w="28575">
            <a:solidFill>
              <a:srgbClr val="6FE3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092440" y="4489703"/>
            <a:ext cx="1737360" cy="548640"/>
          </a:xfrm>
          <a:prstGeom prst="rect">
            <a:avLst/>
          </a:prstGeom>
          <a:solidFill>
            <a:srgbClr val="222936"/>
          </a:solidFill>
          <a:ln w="1587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else → F</a:t>
            </a:r>
          </a:p>
        </p:txBody>
      </p:sp>
      <p:cxnSp>
        <p:nvCxnSpPr>
          <p:cNvPr id="23" name="Connector 22"/>
          <p:cNvCxnSpPr>
            <a:cxnSpLocks/>
            <a:stCxn id="18" idx="2"/>
            <a:endCxn id="22" idx="0"/>
          </p:cNvCxnSpPr>
          <p:nvPr/>
        </p:nvCxnSpPr>
        <p:spPr>
          <a:xfrm>
            <a:off x="8961120" y="3913632"/>
            <a:ext cx="0" cy="576071"/>
          </a:xfrm>
          <a:prstGeom prst="line">
            <a:avLst/>
          </a:prstGeom>
          <a:ln w="28575">
            <a:solidFill>
              <a:srgbClr val="9AA4B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18">
            <a:extLst>
              <a:ext uri="{FF2B5EF4-FFF2-40B4-BE49-F238E27FC236}">
                <a16:creationId xmlns:a16="http://schemas.microsoft.com/office/drawing/2014/main" id="{FAD0F878-A26B-467A-B3CF-B6B5A29AA14F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8961120" y="1280160"/>
            <a:ext cx="0" cy="585216"/>
          </a:xfrm>
          <a:prstGeom prst="line">
            <a:avLst/>
          </a:prstGeom>
          <a:ln w="28575">
            <a:solidFill>
              <a:srgbClr val="9AA4B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15">
            <a:extLst>
              <a:ext uri="{FF2B5EF4-FFF2-40B4-BE49-F238E27FC236}">
                <a16:creationId xmlns:a16="http://schemas.microsoft.com/office/drawing/2014/main" id="{F56EBC08-C56A-4D92-AD61-01B3191181E1}"/>
              </a:ext>
            </a:extLst>
          </p:cNvPr>
          <p:cNvSpPr/>
          <p:nvPr/>
        </p:nvSpPr>
        <p:spPr>
          <a:xfrm>
            <a:off x="8366760" y="882699"/>
            <a:ext cx="1188720" cy="430785"/>
          </a:xfrm>
          <a:prstGeom prst="rect">
            <a:avLst/>
          </a:prstGeom>
          <a:noFill/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altLang="zh-TW" sz="18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76</a:t>
            </a:r>
            <a:endParaRPr sz="1800" b="1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22AB8461-42DA-4923-B495-B54D4A5437F9}"/>
              </a:ext>
            </a:extLst>
          </p:cNvPr>
          <p:cNvSpPr/>
          <p:nvPr/>
        </p:nvSpPr>
        <p:spPr>
          <a:xfrm>
            <a:off x="9822179" y="1705864"/>
            <a:ext cx="441960" cy="430785"/>
          </a:xfrm>
          <a:prstGeom prst="rect">
            <a:avLst/>
          </a:prstGeom>
          <a:noFill/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altLang="zh-TW" sz="18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Y</a:t>
            </a:r>
            <a:endParaRPr sz="1800" b="1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3" name="Rectangle 15">
            <a:extLst>
              <a:ext uri="{FF2B5EF4-FFF2-40B4-BE49-F238E27FC236}">
                <a16:creationId xmlns:a16="http://schemas.microsoft.com/office/drawing/2014/main" id="{27A2B69D-5994-497A-A5B5-043B7D2E26F3}"/>
              </a:ext>
            </a:extLst>
          </p:cNvPr>
          <p:cNvSpPr/>
          <p:nvPr/>
        </p:nvSpPr>
        <p:spPr>
          <a:xfrm>
            <a:off x="9822179" y="3084575"/>
            <a:ext cx="441960" cy="430785"/>
          </a:xfrm>
          <a:prstGeom prst="rect">
            <a:avLst/>
          </a:prstGeom>
          <a:noFill/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altLang="zh-TW" sz="18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Y</a:t>
            </a:r>
            <a:endParaRPr sz="1800" b="1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4" name="Rectangle 15">
            <a:extLst>
              <a:ext uri="{FF2B5EF4-FFF2-40B4-BE49-F238E27FC236}">
                <a16:creationId xmlns:a16="http://schemas.microsoft.com/office/drawing/2014/main" id="{4D58C34B-920B-4F30-9378-402020A9303C}"/>
              </a:ext>
            </a:extLst>
          </p:cNvPr>
          <p:cNvSpPr/>
          <p:nvPr/>
        </p:nvSpPr>
        <p:spPr>
          <a:xfrm>
            <a:off x="8519160" y="2642616"/>
            <a:ext cx="441960" cy="430785"/>
          </a:xfrm>
          <a:prstGeom prst="rect">
            <a:avLst/>
          </a:prstGeom>
          <a:noFill/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N</a:t>
            </a:r>
            <a:endParaRPr sz="1800" b="1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5" name="Rectangle 15">
            <a:extLst>
              <a:ext uri="{FF2B5EF4-FFF2-40B4-BE49-F238E27FC236}">
                <a16:creationId xmlns:a16="http://schemas.microsoft.com/office/drawing/2014/main" id="{AA478EB7-F704-4353-B90C-B718D9A91E9D}"/>
              </a:ext>
            </a:extLst>
          </p:cNvPr>
          <p:cNvSpPr/>
          <p:nvPr/>
        </p:nvSpPr>
        <p:spPr>
          <a:xfrm>
            <a:off x="8549640" y="3966971"/>
            <a:ext cx="441960" cy="430785"/>
          </a:xfrm>
          <a:prstGeom prst="rect">
            <a:avLst/>
          </a:prstGeom>
          <a:noFill/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N</a:t>
            </a:r>
            <a:endParaRPr sz="1800" b="1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for 迴圈與累加器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FOR · RANGE · ACCUMULATOR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dirty="0" err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</a:t>
            </a:r>
            <a:r>
              <a:rPr sz="1600" b="1" dirty="0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　PY01_核心語法.ipynb · for </a:t>
            </a:r>
            <a:r>
              <a:rPr sz="1600" b="1" dirty="0" err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迴圈與</a:t>
            </a:r>
            <a:r>
              <a:rPr sz="1600" b="1" dirty="0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 range()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139833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zh-TW" altLang="en-US"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列表</a:t>
            </a:r>
            <a:r>
              <a:rPr lang="en-US" altLang="zh-TW"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=[</a:t>
            </a:r>
            <a:r>
              <a:rPr lang="zh-TW" altLang="en-US"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物件</a:t>
            </a:r>
            <a:r>
              <a:rPr lang="en-US" altLang="zh-TW"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1, </a:t>
            </a:r>
            <a:r>
              <a:rPr lang="zh-TW" altLang="en-US"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物件</a:t>
            </a:r>
            <a:r>
              <a:rPr lang="en-US" altLang="zh-TW"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2, </a:t>
            </a:r>
            <a:r>
              <a:rPr lang="zh-TW" altLang="en-US"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物件</a:t>
            </a:r>
            <a:r>
              <a:rPr lang="en-US" altLang="zh-TW"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3]</a:t>
            </a:r>
            <a:endParaRPr sz="1600" b="1" dirty="0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lang="en-US" sz="1600" b="1" dirty="0">
              <a:solidFill>
                <a:srgbClr val="F2C14E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lang="en-US" sz="1600" b="1" dirty="0">
              <a:solidFill>
                <a:srgbClr val="F2C14E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for</a:t>
            </a: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</a:t>
            </a:r>
            <a:r>
              <a:rPr lang="zh-TW" altLang="en-US"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物件</a:t>
            </a: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</a:t>
            </a:r>
            <a:r>
              <a:rPr sz="1600" b="1" dirty="0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in</a:t>
            </a: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</a:t>
            </a:r>
            <a:r>
              <a:rPr lang="zh-TW" altLang="en-US"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列表</a:t>
            </a: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:</a:t>
            </a:r>
            <a:endParaRPr lang="en-US" sz="1600" b="1" dirty="0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</a:t>
            </a:r>
            <a:r>
              <a:rPr lang="zh-TW" altLang="en-US"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做一些事情</a:t>
            </a:r>
            <a:r>
              <a:rPr lang="en-US" altLang="zh-TW"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…</a:t>
            </a: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</a:t>
            </a:r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2394E2BC-DC7B-4A7B-A2C0-1C6CAC717EBD}"/>
              </a:ext>
            </a:extLst>
          </p:cNvPr>
          <p:cNvSpPr/>
          <p:nvPr/>
        </p:nvSpPr>
        <p:spPr>
          <a:xfrm>
            <a:off x="6990233" y="2217110"/>
            <a:ext cx="747233" cy="449892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zh-TW" altLang="en-US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物件</a:t>
            </a:r>
            <a:r>
              <a:rPr lang="en-US" altLang="zh-TW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1</a:t>
            </a:r>
            <a:endParaRPr sz="1800" b="1" dirty="0">
              <a:solidFill>
                <a:srgbClr val="F2F5F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64055D79-A2E0-4E58-9D5C-D39A95C1BDB4}"/>
              </a:ext>
            </a:extLst>
          </p:cNvPr>
          <p:cNvSpPr/>
          <p:nvPr/>
        </p:nvSpPr>
        <p:spPr>
          <a:xfrm>
            <a:off x="7816123" y="2217110"/>
            <a:ext cx="747233" cy="449892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zh-TW" altLang="en-US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物件</a:t>
            </a:r>
            <a:r>
              <a:rPr lang="en-US" altLang="zh-TW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2</a:t>
            </a:r>
            <a:endParaRPr sz="1800" b="1" dirty="0">
              <a:solidFill>
                <a:srgbClr val="F2F5F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2" name="Rectangle 20">
            <a:extLst>
              <a:ext uri="{FF2B5EF4-FFF2-40B4-BE49-F238E27FC236}">
                <a16:creationId xmlns:a16="http://schemas.microsoft.com/office/drawing/2014/main" id="{C7EC6B95-5E6D-4FD7-833C-86F596C37364}"/>
              </a:ext>
            </a:extLst>
          </p:cNvPr>
          <p:cNvSpPr/>
          <p:nvPr/>
        </p:nvSpPr>
        <p:spPr>
          <a:xfrm>
            <a:off x="8642012" y="2217110"/>
            <a:ext cx="747233" cy="449892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zh-TW" altLang="en-US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物件</a:t>
            </a:r>
            <a:r>
              <a:rPr lang="en-US" altLang="zh-TW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3</a:t>
            </a:r>
            <a:endParaRPr sz="1800" b="1" dirty="0">
              <a:solidFill>
                <a:srgbClr val="F2F5F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DC468E0C-9ADE-4B84-A7FF-89428A878DDD}"/>
              </a:ext>
            </a:extLst>
          </p:cNvPr>
          <p:cNvSpPr/>
          <p:nvPr/>
        </p:nvSpPr>
        <p:spPr>
          <a:xfrm>
            <a:off x="9467902" y="2217110"/>
            <a:ext cx="747233" cy="449892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zh-TW" altLang="en-US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物件</a:t>
            </a:r>
            <a:r>
              <a:rPr lang="en-US" altLang="zh-TW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4</a:t>
            </a:r>
            <a:endParaRPr sz="1800" b="1" dirty="0">
              <a:solidFill>
                <a:srgbClr val="F2F5F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4" name="Rectangle 26">
            <a:extLst>
              <a:ext uri="{FF2B5EF4-FFF2-40B4-BE49-F238E27FC236}">
                <a16:creationId xmlns:a16="http://schemas.microsoft.com/office/drawing/2014/main" id="{6D111CA9-11F6-4375-9F3B-45C94DC6A1EC}"/>
              </a:ext>
            </a:extLst>
          </p:cNvPr>
          <p:cNvSpPr/>
          <p:nvPr/>
        </p:nvSpPr>
        <p:spPr>
          <a:xfrm>
            <a:off x="10293792" y="2217109"/>
            <a:ext cx="747233" cy="449892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zh-TW" altLang="en-US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物件</a:t>
            </a:r>
            <a:r>
              <a:rPr lang="en-US" altLang="zh-TW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5</a:t>
            </a:r>
            <a:endParaRPr sz="1800" b="1" dirty="0">
              <a:solidFill>
                <a:srgbClr val="F2F5F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弧形 6">
            <a:extLst>
              <a:ext uri="{FF2B5EF4-FFF2-40B4-BE49-F238E27FC236}">
                <a16:creationId xmlns:a16="http://schemas.microsoft.com/office/drawing/2014/main" id="{F778C1CB-AE06-40F4-8451-1D20AD3CD6AD}"/>
              </a:ext>
            </a:extLst>
          </p:cNvPr>
          <p:cNvSpPr/>
          <p:nvPr/>
        </p:nvSpPr>
        <p:spPr>
          <a:xfrm>
            <a:off x="7213600" y="3566160"/>
            <a:ext cx="3484880" cy="1695908"/>
          </a:xfrm>
          <a:prstGeom prst="arc">
            <a:avLst>
              <a:gd name="adj1" fmla="val 17806719"/>
              <a:gd name="adj2" fmla="val 15260612"/>
            </a:avLst>
          </a:prstGeom>
          <a:noFill/>
          <a:ln w="28575">
            <a:solidFill>
              <a:srgbClr val="FFD166"/>
            </a:solidFill>
            <a:headEnd type="none" w="med" len="med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endParaRPr lang="zh-TW" altLang="en-US" sz="1600" b="1">
              <a:solidFill>
                <a:srgbClr val="FFD166"/>
              </a:solidFill>
              <a:latin typeface="Microsoft JhengHei"/>
              <a:ea typeface="Microsoft JhengHei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9976AC8E-D2ED-4F5E-A3D4-1E91BB5654DC}"/>
              </a:ext>
            </a:extLst>
          </p:cNvPr>
          <p:cNvCxnSpPr>
            <a:cxnSpLocks/>
          </p:cNvCxnSpPr>
          <p:nvPr/>
        </p:nvCxnSpPr>
        <p:spPr>
          <a:xfrm>
            <a:off x="9042400" y="2834640"/>
            <a:ext cx="10160" cy="687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BBAF4E2-0C37-4EA4-841A-3369CFF82884}"/>
              </a:ext>
            </a:extLst>
          </p:cNvPr>
          <p:cNvSpPr txBox="1"/>
          <p:nvPr/>
        </p:nvSpPr>
        <p:spPr>
          <a:xfrm>
            <a:off x="9140478" y="2986922"/>
            <a:ext cx="70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物件</a:t>
            </a:r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D438EB1-5CD6-48D7-8D66-6281575A12A4}"/>
              </a:ext>
            </a:extLst>
          </p:cNvPr>
          <p:cNvSpPr txBox="1"/>
          <p:nvPr/>
        </p:nvSpPr>
        <p:spPr>
          <a:xfrm>
            <a:off x="8327678" y="4236760"/>
            <a:ext cx="162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做一些事情</a:t>
            </a:r>
            <a:r>
              <a:rPr lang="en-US" altLang="zh-TW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…</a:t>
            </a:r>
            <a:r>
              <a:rPr lang="zh-TW" altLang="en-US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9003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for 迴圈與累加器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FOR · RANGE · ACCUMULATOR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dirty="0" err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</a:t>
            </a:r>
            <a:r>
              <a:rPr sz="1600" b="1" dirty="0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　PY01_核心語法.ipynb · for </a:t>
            </a:r>
            <a:r>
              <a:rPr sz="1600" b="1" dirty="0" err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迴圈與</a:t>
            </a:r>
            <a:r>
              <a:rPr sz="1600" b="1" dirty="0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 range()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total = 0      </a:t>
            </a:r>
            <a:r>
              <a:rPr sz="1600" b="1" dirty="0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</a:t>
            </a:r>
            <a:r>
              <a:rPr sz="1600" b="1" dirty="0" err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累加器（撲滿</a:t>
            </a:r>
            <a:r>
              <a:rPr sz="1600" b="1" dirty="0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count =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 dirty="0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for</a:t>
            </a: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n </a:t>
            </a:r>
            <a:r>
              <a:rPr sz="1600" b="1" dirty="0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in</a:t>
            </a: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range(1, 11):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total = total + 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count = count + 1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 dirty="0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print(total)        </a:t>
            </a:r>
            <a:r>
              <a:rPr sz="1600" b="1" dirty="0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55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print(total / count)</a:t>
            </a:r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49A21E5E-3CAA-4344-BB47-9E2BD6F10CF8}"/>
              </a:ext>
            </a:extLst>
          </p:cNvPr>
          <p:cNvSpPr/>
          <p:nvPr/>
        </p:nvSpPr>
        <p:spPr>
          <a:xfrm>
            <a:off x="6990233" y="2217110"/>
            <a:ext cx="747233" cy="449892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altLang="zh-TW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1</a:t>
            </a:r>
            <a:endParaRPr sz="1800" b="1" dirty="0">
              <a:solidFill>
                <a:srgbClr val="F2F5F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CCE097CA-2FF7-48B2-A537-CEB92EB2931C}"/>
              </a:ext>
            </a:extLst>
          </p:cNvPr>
          <p:cNvSpPr/>
          <p:nvPr/>
        </p:nvSpPr>
        <p:spPr>
          <a:xfrm>
            <a:off x="7816123" y="2217110"/>
            <a:ext cx="747233" cy="449892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altLang="zh-TW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2</a:t>
            </a:r>
            <a:endParaRPr sz="1800" b="1" dirty="0">
              <a:solidFill>
                <a:srgbClr val="F2F5F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2" name="Rectangle 20">
            <a:extLst>
              <a:ext uri="{FF2B5EF4-FFF2-40B4-BE49-F238E27FC236}">
                <a16:creationId xmlns:a16="http://schemas.microsoft.com/office/drawing/2014/main" id="{08E0B7B1-F310-48EA-9FB6-25042C93D705}"/>
              </a:ext>
            </a:extLst>
          </p:cNvPr>
          <p:cNvSpPr/>
          <p:nvPr/>
        </p:nvSpPr>
        <p:spPr>
          <a:xfrm>
            <a:off x="8642012" y="2217110"/>
            <a:ext cx="747233" cy="449892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altLang="zh-TW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3</a:t>
            </a:r>
            <a:endParaRPr sz="1800" b="1" dirty="0">
              <a:solidFill>
                <a:srgbClr val="F2F5F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9088EBEB-134A-483F-A43A-161EEE90A3E6}"/>
              </a:ext>
            </a:extLst>
          </p:cNvPr>
          <p:cNvSpPr/>
          <p:nvPr/>
        </p:nvSpPr>
        <p:spPr>
          <a:xfrm>
            <a:off x="9467902" y="2217110"/>
            <a:ext cx="747233" cy="449892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altLang="zh-TW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4</a:t>
            </a:r>
            <a:endParaRPr sz="1800" b="1" dirty="0">
              <a:solidFill>
                <a:srgbClr val="F2F5F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4" name="Rectangle 26">
            <a:extLst>
              <a:ext uri="{FF2B5EF4-FFF2-40B4-BE49-F238E27FC236}">
                <a16:creationId xmlns:a16="http://schemas.microsoft.com/office/drawing/2014/main" id="{A62F8B70-E62E-4B3A-897F-D729C5A22014}"/>
              </a:ext>
            </a:extLst>
          </p:cNvPr>
          <p:cNvSpPr/>
          <p:nvPr/>
        </p:nvSpPr>
        <p:spPr>
          <a:xfrm>
            <a:off x="10293792" y="2217109"/>
            <a:ext cx="747233" cy="449892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11</a:t>
            </a:r>
            <a:endParaRPr sz="1800" b="1" dirty="0">
              <a:solidFill>
                <a:srgbClr val="F2F5F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5" name="弧形 24">
            <a:extLst>
              <a:ext uri="{FF2B5EF4-FFF2-40B4-BE49-F238E27FC236}">
                <a16:creationId xmlns:a16="http://schemas.microsoft.com/office/drawing/2014/main" id="{E5B423AA-B232-4FC8-ACC0-A061735F6EC8}"/>
              </a:ext>
            </a:extLst>
          </p:cNvPr>
          <p:cNvSpPr/>
          <p:nvPr/>
        </p:nvSpPr>
        <p:spPr>
          <a:xfrm>
            <a:off x="7213600" y="3566160"/>
            <a:ext cx="3484880" cy="1695908"/>
          </a:xfrm>
          <a:prstGeom prst="arc">
            <a:avLst>
              <a:gd name="adj1" fmla="val 17806719"/>
              <a:gd name="adj2" fmla="val 15260612"/>
            </a:avLst>
          </a:prstGeom>
          <a:noFill/>
          <a:ln w="28575">
            <a:solidFill>
              <a:srgbClr val="FFD166"/>
            </a:solidFill>
            <a:headEnd type="none" w="med" len="med"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endParaRPr lang="zh-TW" altLang="en-US" sz="1600" b="1">
              <a:solidFill>
                <a:srgbClr val="FFD166"/>
              </a:solidFill>
              <a:latin typeface="Microsoft JhengHei"/>
              <a:ea typeface="Microsoft JhengHei"/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9C970487-7FAD-4E8F-BD80-D03E79A2D20E}"/>
              </a:ext>
            </a:extLst>
          </p:cNvPr>
          <p:cNvCxnSpPr>
            <a:cxnSpLocks/>
          </p:cNvCxnSpPr>
          <p:nvPr/>
        </p:nvCxnSpPr>
        <p:spPr>
          <a:xfrm>
            <a:off x="9042400" y="2834640"/>
            <a:ext cx="10160" cy="687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38124AD-31DD-411A-8C4E-BC932BEA50CF}"/>
              </a:ext>
            </a:extLst>
          </p:cNvPr>
          <p:cNvSpPr txBox="1"/>
          <p:nvPr/>
        </p:nvSpPr>
        <p:spPr>
          <a:xfrm>
            <a:off x="9140478" y="2986922"/>
            <a:ext cx="70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</a:t>
            </a:r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737E7B5-1FF9-466C-83D3-E9B57708950A}"/>
              </a:ext>
            </a:extLst>
          </p:cNvPr>
          <p:cNvSpPr txBox="1"/>
          <p:nvPr/>
        </p:nvSpPr>
        <p:spPr>
          <a:xfrm>
            <a:off x="7845078" y="4025597"/>
            <a:ext cx="2370057" cy="6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altLang="zh-TW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total = total + 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altLang="zh-TW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count = count + 1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C07211B0-7EC8-4324-9D0D-6D1C7898B68E}"/>
              </a:ext>
            </a:extLst>
          </p:cNvPr>
          <p:cNvSpPr txBox="1"/>
          <p:nvPr/>
        </p:nvSpPr>
        <p:spPr>
          <a:xfrm>
            <a:off x="7004710" y="1699179"/>
            <a:ext cx="2370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altLang="zh-TW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range() </a:t>
            </a:r>
            <a:r>
              <a:rPr lang="zh-TW" altLang="en-US" sz="18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產生列表</a:t>
            </a:r>
            <a:endParaRPr lang="en-US" altLang="zh-TW" sz="1800" b="1" dirty="0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while 迴圈與二分逼近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WHILE · BREAK · CONVERGENCE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PY01_核心語法.ipynb · while 迴圈與流程跳脫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low, high = 0.0, 2.0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while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True: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mid = (low + high) /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</a:t>
            </a: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if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abs(mid</a:t>
            </a:r>
            <a:r>
              <a:rPr sz="1600" b="1">
                <a:solidFill>
                  <a:srgbClr val="FFB454"/>
                </a:solidFill>
                <a:latin typeface="Consolas"/>
                <a:ea typeface="Microsoft JhengHei"/>
                <a:cs typeface="Microsoft JhengHei"/>
              </a:rPr>
              <a:t>*mid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- 2) &lt; 1e-6: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    </a:t>
            </a: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break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夠準就停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</a:t>
            </a: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if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mid</a:t>
            </a:r>
            <a:r>
              <a:rPr sz="1600" b="1">
                <a:solidFill>
                  <a:srgbClr val="FFB454"/>
                </a:solidFill>
                <a:latin typeface="Consolas"/>
                <a:ea typeface="Microsoft JhengHei"/>
                <a:cs typeface="Microsoft JhengHei"/>
              </a:rPr>
              <a:t>*mid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&gt; 2: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    high = mid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左半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</a:t>
            </a: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else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    low = mid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右半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print("√2 ≈", mid)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2926080"/>
            <a:ext cx="4572000" cy="512064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0.0  ……  2.0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3566160"/>
            <a:ext cx="3383280" cy="512064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1.0  ……  2.0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4206240"/>
            <a:ext cx="2377440" cy="512064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1.25 …… 1.5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9400" y="4846320"/>
            <a:ext cx="1737360" cy="512064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√2 ≈ 1.41421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5532120"/>
            <a:ext cx="50292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中點當猜測 → 依結果丟掉一半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清單與索引切片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6FE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LIST · INDEXING · SLICING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417320"/>
            <a:ext cx="5394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比喻圖像  ANALOGY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PY02_資料結構與推導式.ipynb · 清單與索引切片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temps = [22, 24, 19, 21, 25]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temps.append(26) 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尾端加一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temps.extend([18, 17])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接一串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temps[0]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22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temps[-1]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最後一個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temps[-3:]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後三個（切片）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755648"/>
            <a:ext cx="73152" cy="603504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755648"/>
            <a:ext cx="521208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比喻　一排有編號的置物櫃；切片取其中一段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3200400"/>
            <a:ext cx="868680" cy="77724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9864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99592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-5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3200400"/>
            <a:ext cx="868680" cy="77724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89864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399592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-4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3200400"/>
            <a:ext cx="868680" cy="77724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9864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99592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-3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3200400"/>
            <a:ext cx="868680" cy="77724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89864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99592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-2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78440" y="3200400"/>
            <a:ext cx="868680" cy="77724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289864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399592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-1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3127248"/>
            <a:ext cx="2788920" cy="932688"/>
          </a:xfrm>
          <a:prstGeom prst="rect">
            <a:avLst/>
          </a:prstGeom>
          <a:noFill/>
          <a:ln w="381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4663440"/>
            <a:ext cx="512064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append 加一個；extend 逐一接上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[-3:] 取最後三格（不含結尾的 b）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PY03 關鍵字配色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KEYWORD COLOR LEGEND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502920" cy="548640"/>
          </a:xfrm>
          <a:prstGeom prst="rect">
            <a:avLst/>
          </a:prstGeom>
          <a:solidFill>
            <a:srgbClr val="5A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47548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dirty="0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def / lambda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58568"/>
            <a:ext cx="502920" cy="5486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40" y="2258568"/>
            <a:ext cx="47548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return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16935"/>
            <a:ext cx="502920" cy="54864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2916935"/>
            <a:ext cx="47548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*args / **kwargs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75303"/>
            <a:ext cx="502920" cy="548640"/>
          </a:xfrm>
          <a:prstGeom prst="rect">
            <a:avLst/>
          </a:prstGeom>
          <a:solidFill>
            <a:srgbClr val="4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3575303"/>
            <a:ext cx="47548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4FD6D6"/>
                </a:solidFill>
                <a:latin typeface="Microsoft JhengHei"/>
                <a:ea typeface="Microsoft JhengHei"/>
                <a:cs typeface="Microsoft JhengHei"/>
              </a:rPr>
              <a:t>nonlocal / global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33671"/>
            <a:ext cx="502920" cy="548640"/>
          </a:xfrm>
          <a:prstGeom prst="rect">
            <a:avLst/>
          </a:prstGeom>
          <a:solidFill>
            <a:srgbClr val="C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63040" y="4233671"/>
            <a:ext cx="47548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C79BFF"/>
                </a:solidFill>
                <a:latin typeface="Microsoft JhengHei"/>
                <a:ea typeface="Microsoft JhengHei"/>
                <a:cs typeface="Microsoft JhengHei"/>
              </a:rPr>
              <a:t>import / from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92039"/>
            <a:ext cx="502920" cy="54864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63040" y="4892039"/>
            <a:ext cx="47548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2C14E"/>
                </a:solidFill>
                <a:latin typeface="Microsoft JhengHei"/>
                <a:ea typeface="Microsoft JhengHei"/>
                <a:cs typeface="Microsoft JhengHei"/>
              </a:rPr>
              <a:t>for / if / while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550407"/>
            <a:ext cx="502920" cy="548640"/>
          </a:xfrm>
          <a:prstGeom prst="rect">
            <a:avLst/>
          </a:prstGeom>
          <a:solidFill>
            <a:srgbClr val="6B7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63040" y="5550407"/>
            <a:ext cx="47548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6B7686"/>
                </a:solidFill>
                <a:latin typeface="Microsoft JhengHei"/>
                <a:ea typeface="Microsoft JhengHei"/>
                <a:cs typeface="Microsoft JhengHei"/>
              </a:rPr>
              <a:t># 註解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PY03_函式與程式組織.ipynb · 配色規則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20E056A-59DB-4BC7-A4D0-F887CEE754C8}"/>
              </a:ext>
            </a:extLst>
          </p:cNvPr>
          <p:cNvSpPr txBox="1"/>
          <p:nvPr/>
        </p:nvSpPr>
        <p:spPr>
          <a:xfrm>
            <a:off x="4937760" y="1005840"/>
            <a:ext cx="633171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en-US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標準庫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TW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第三方庫 </a:t>
            </a:r>
            <a:r>
              <a:rPr lang="en-US" altLang="zh-TW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en-US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別名</a:t>
            </a:r>
            <a:endParaRPr lang="zh-TW" altLang="en-US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TW" altLang="en-US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註解 不會被程式執行 給使用者看</a:t>
            </a:r>
            <a:endParaRPr lang="zh-TW" altLang="en-US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GLOABL_VAR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name  </a:t>
            </a:r>
            <a:r>
              <a:rPr lang="en-US" altLang="zh-TW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TW" altLang="en-US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定義在外部都是叫做全局變數</a:t>
            </a:r>
            <a:endParaRPr lang="zh-TW" altLang="en-US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TW" altLang="en-US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全局變數</a:t>
            </a:r>
            <a:endParaRPr lang="zh-TW" altLang="en-US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b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  <a:t>def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en-US" b="1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變數名稱</a:t>
            </a:r>
            <a:r>
              <a:rPr lang="en-US" altLang="zh-TW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en-US" b="1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引數</a:t>
            </a:r>
            <a:r>
              <a:rPr lang="en-US" altLang="zh-TW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en-US" b="1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引數</a:t>
            </a:r>
            <a:r>
              <a:rPr lang="en-US" altLang="zh-TW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zh-TW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local_var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一些變數 </a:t>
            </a:r>
            <a:r>
              <a:rPr lang="en-US" altLang="zh-TW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TW" altLang="en-US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局部變數</a:t>
            </a:r>
            <a:endParaRPr lang="zh-TW" altLang="en-US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做一些事情</a:t>
            </a:r>
          </a:p>
          <a:p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回傳</a:t>
            </a:r>
          </a:p>
          <a:p>
            <a:b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b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b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b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zh-TW" altLang="en-US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PY03 關鍵字配色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KEYWORD COLOR LEGEND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PY03_函式與程式組織.ipynb · 配色規則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20E056A-59DB-4BC7-A4D0-F887CEE754C8}"/>
              </a:ext>
            </a:extLst>
          </p:cNvPr>
          <p:cNvSpPr txBox="1"/>
          <p:nvPr/>
        </p:nvSpPr>
        <p:spPr>
          <a:xfrm>
            <a:off x="6548831" y="1005840"/>
            <a:ext cx="6331712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zh-TW" altLang="en-US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  <a:t> 標準庫 </a:t>
            </a:r>
          </a:p>
          <a:p>
            <a:r>
              <a:rPr lang="en-US" altLang="zh-TW" b="1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zh-TW" altLang="en-US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  <a:t> 第三方庫 </a:t>
            </a:r>
            <a:r>
              <a:rPr lang="en-US" altLang="zh-TW" b="1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zh-TW" altLang="en-US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  <a:t> 別名</a:t>
            </a:r>
          </a:p>
          <a:p>
            <a:br>
              <a:rPr lang="zh-TW" altLang="en-US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</a:br>
            <a:r>
              <a:rPr lang="en-US" altLang="zh-TW" b="1" dirty="0">
                <a:solidFill>
                  <a:srgbClr val="8B949E"/>
                </a:solidFill>
                <a:latin typeface="Consolas" panose="020B0609020204030204" pitchFamily="49" charset="0"/>
              </a:rPr>
              <a:t># </a:t>
            </a:r>
            <a:r>
              <a:rPr lang="zh-TW" altLang="en-US" b="1" dirty="0">
                <a:solidFill>
                  <a:srgbClr val="8B949E"/>
                </a:solidFill>
                <a:latin typeface="Consolas" panose="020B0609020204030204" pitchFamily="49" charset="0"/>
              </a:rPr>
              <a:t>註解 不會被程式執行 給使用者看</a:t>
            </a:r>
          </a:p>
          <a:p>
            <a:br>
              <a:rPr lang="zh-TW" altLang="en-US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</a:br>
            <a:r>
              <a:rPr lang="en-US" altLang="zh-TW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  <a:t>GLOABL_VAR</a:t>
            </a:r>
            <a:r>
              <a:rPr lang="zh-TW" altLang="en-US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  <a:t> </a:t>
            </a:r>
            <a:r>
              <a:rPr lang="en-US" altLang="zh-TW" sz="2000" b="1" dirty="0">
                <a:solidFill>
                  <a:schemeClr val="bg1"/>
                </a:solidFill>
                <a:latin typeface="Microsoft JhengHei"/>
                <a:ea typeface="Microsoft JhengHei"/>
              </a:rPr>
              <a:t>=</a:t>
            </a:r>
            <a:r>
              <a:rPr lang="zh-TW" altLang="en-US" sz="2000" b="1" dirty="0">
                <a:solidFill>
                  <a:schemeClr val="bg1"/>
                </a:solidFill>
                <a:latin typeface="Microsoft JhengHei"/>
                <a:ea typeface="Microsoft JhengHei"/>
              </a:rPr>
              <a:t> </a:t>
            </a:r>
            <a:r>
              <a:rPr lang="en-US" altLang="zh-TW" sz="2000" b="1" dirty="0">
                <a:solidFill>
                  <a:schemeClr val="bg1"/>
                </a:solidFill>
                <a:latin typeface="Microsoft JhengHei"/>
                <a:ea typeface="Microsoft JhengHei"/>
              </a:rPr>
              <a:t>name</a:t>
            </a:r>
            <a:r>
              <a:rPr lang="en-US" altLang="zh-TW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  <a:t>  </a:t>
            </a:r>
            <a:r>
              <a:rPr lang="en-US" altLang="zh-TW" b="1" dirty="0">
                <a:solidFill>
                  <a:srgbClr val="8B949E"/>
                </a:solidFill>
                <a:latin typeface="Consolas" panose="020B0609020204030204" pitchFamily="49" charset="0"/>
              </a:rPr>
              <a:t># </a:t>
            </a:r>
            <a:r>
              <a:rPr lang="zh-TW" altLang="en-US" b="1" dirty="0">
                <a:solidFill>
                  <a:srgbClr val="8B949E"/>
                </a:solidFill>
                <a:latin typeface="Consolas" panose="020B0609020204030204" pitchFamily="49" charset="0"/>
              </a:rPr>
              <a:t>定義在外部都是叫做全局變數</a:t>
            </a:r>
          </a:p>
          <a:p>
            <a:r>
              <a:rPr lang="en-US" altLang="zh-TW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  <a:t>var</a:t>
            </a:r>
            <a:r>
              <a:rPr lang="zh-TW" altLang="en-US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  <a:t> </a:t>
            </a:r>
            <a:r>
              <a:rPr lang="en-US" altLang="zh-TW" sz="2000" b="1" dirty="0">
                <a:solidFill>
                  <a:schemeClr val="bg1"/>
                </a:solidFill>
                <a:latin typeface="Microsoft JhengHei"/>
                <a:ea typeface="Microsoft JhengHei"/>
              </a:rPr>
              <a:t>=</a:t>
            </a:r>
            <a:r>
              <a:rPr lang="zh-TW" altLang="en-US" sz="2000" b="1" dirty="0">
                <a:solidFill>
                  <a:schemeClr val="bg1"/>
                </a:solidFill>
                <a:latin typeface="Microsoft JhengHei"/>
                <a:ea typeface="Microsoft JhengHei"/>
              </a:rPr>
              <a:t> </a:t>
            </a:r>
            <a:r>
              <a:rPr lang="en-US" altLang="zh-TW" sz="2000" b="1" dirty="0">
                <a:solidFill>
                  <a:schemeClr val="bg1"/>
                </a:solidFill>
                <a:latin typeface="Microsoft JhengHei"/>
                <a:ea typeface="Microsoft JhengHei"/>
              </a:rPr>
              <a:t>23</a:t>
            </a:r>
            <a:r>
              <a:rPr lang="zh-TW" altLang="en-US" sz="2000" b="1" dirty="0">
                <a:solidFill>
                  <a:schemeClr val="bg1"/>
                </a:solidFill>
                <a:latin typeface="Microsoft JhengHei"/>
                <a:ea typeface="Microsoft JhengHei"/>
              </a:rPr>
              <a:t> </a:t>
            </a:r>
            <a:r>
              <a:rPr lang="en-US" altLang="zh-TW" b="1" dirty="0">
                <a:solidFill>
                  <a:srgbClr val="8B949E"/>
                </a:solidFill>
                <a:latin typeface="Consolas" panose="020B0609020204030204" pitchFamily="49" charset="0"/>
              </a:rPr>
              <a:t># </a:t>
            </a:r>
            <a:r>
              <a:rPr lang="zh-TW" altLang="en-US" b="1" dirty="0">
                <a:solidFill>
                  <a:srgbClr val="8B949E"/>
                </a:solidFill>
                <a:latin typeface="Consolas" panose="020B0609020204030204" pitchFamily="49" charset="0"/>
              </a:rPr>
              <a:t>全局變數</a:t>
            </a:r>
          </a:p>
          <a:p>
            <a:br>
              <a:rPr lang="zh-TW" altLang="en-US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</a:br>
            <a:br>
              <a:rPr lang="zh-TW" altLang="en-US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</a:br>
            <a:r>
              <a:rPr lang="en-US" altLang="zh-TW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  <a:t>def</a:t>
            </a:r>
            <a:r>
              <a:rPr lang="zh-TW" altLang="en-US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  <a:t> </a:t>
            </a:r>
            <a:r>
              <a:rPr lang="zh-TW" altLang="en-US" b="1" dirty="0">
                <a:solidFill>
                  <a:srgbClr val="C586C0"/>
                </a:solidFill>
                <a:latin typeface="Consolas" panose="020B0609020204030204" pitchFamily="49" charset="0"/>
              </a:rPr>
              <a:t>變數名稱</a:t>
            </a:r>
            <a:r>
              <a:rPr lang="en-US" altLang="zh-TW" sz="2000" b="1" dirty="0">
                <a:solidFill>
                  <a:schemeClr val="bg1"/>
                </a:solidFill>
                <a:latin typeface="Microsoft JhengHei"/>
                <a:ea typeface="Microsoft JhengHei"/>
              </a:rPr>
              <a:t>(</a:t>
            </a:r>
            <a:r>
              <a:rPr lang="zh-TW" altLang="en-US" sz="2000" b="1" dirty="0">
                <a:solidFill>
                  <a:srgbClr val="FFC000"/>
                </a:solidFill>
                <a:latin typeface="Microsoft JhengHei"/>
                <a:ea typeface="Microsoft JhengHei"/>
              </a:rPr>
              <a:t>引數</a:t>
            </a:r>
            <a:r>
              <a:rPr lang="en-US" altLang="zh-TW" sz="2000" b="1" dirty="0">
                <a:solidFill>
                  <a:srgbClr val="FFC000"/>
                </a:solidFill>
                <a:latin typeface="Microsoft JhengHei"/>
                <a:ea typeface="Microsoft JhengHei"/>
              </a:rPr>
              <a:t>, </a:t>
            </a:r>
            <a:r>
              <a:rPr lang="zh-TW" altLang="en-US" sz="2000" b="1" dirty="0">
                <a:solidFill>
                  <a:srgbClr val="FFC000"/>
                </a:solidFill>
                <a:latin typeface="Microsoft JhengHei"/>
                <a:ea typeface="Microsoft JhengHei"/>
              </a:rPr>
              <a:t>引數</a:t>
            </a:r>
            <a:r>
              <a:rPr lang="en-US" altLang="zh-TW" sz="2000" b="1" dirty="0">
                <a:solidFill>
                  <a:schemeClr val="bg1"/>
                </a:solidFill>
                <a:latin typeface="Microsoft JhengHei"/>
                <a:ea typeface="Microsoft JhengHei"/>
              </a:rPr>
              <a:t>):</a:t>
            </a:r>
          </a:p>
          <a:p>
            <a:r>
              <a:rPr lang="en-US" altLang="zh-TW" sz="2000" b="1" dirty="0">
                <a:solidFill>
                  <a:schemeClr val="bg1"/>
                </a:solidFill>
                <a:latin typeface="Microsoft JhengHei"/>
                <a:ea typeface="Microsoft JhengHei"/>
              </a:rPr>
              <a:t>    </a:t>
            </a:r>
            <a:r>
              <a:rPr lang="en-US" altLang="zh-TW" sz="2000" b="1" dirty="0" err="1">
                <a:solidFill>
                  <a:schemeClr val="bg1"/>
                </a:solidFill>
                <a:latin typeface="Microsoft JhengHei"/>
                <a:ea typeface="Microsoft JhengHei"/>
              </a:rPr>
              <a:t>local_var</a:t>
            </a:r>
            <a:r>
              <a:rPr lang="zh-TW" altLang="en-US" sz="2000" b="1" dirty="0">
                <a:solidFill>
                  <a:schemeClr val="bg1"/>
                </a:solidFill>
                <a:latin typeface="Microsoft JhengHei"/>
                <a:ea typeface="Microsoft JhengHei"/>
              </a:rPr>
              <a:t> </a:t>
            </a:r>
            <a:r>
              <a:rPr lang="en-US" altLang="zh-TW" sz="2000" b="1" dirty="0">
                <a:solidFill>
                  <a:schemeClr val="bg1"/>
                </a:solidFill>
                <a:latin typeface="Microsoft JhengHei"/>
                <a:ea typeface="Microsoft JhengHei"/>
              </a:rPr>
              <a:t>=</a:t>
            </a:r>
            <a:r>
              <a:rPr lang="zh-TW" altLang="en-US" sz="2000" b="1" dirty="0">
                <a:solidFill>
                  <a:schemeClr val="bg1"/>
                </a:solidFill>
                <a:latin typeface="Microsoft JhengHei"/>
                <a:ea typeface="Microsoft JhengHei"/>
              </a:rPr>
              <a:t> 一些變數 </a:t>
            </a:r>
            <a:r>
              <a:rPr lang="en-US" altLang="zh-TW" sz="2000" b="1" dirty="0">
                <a:solidFill>
                  <a:schemeClr val="bg1"/>
                </a:solidFill>
                <a:latin typeface="Microsoft JhengHei"/>
                <a:ea typeface="Microsoft JhengHei"/>
              </a:rPr>
              <a:t># </a:t>
            </a:r>
            <a:r>
              <a:rPr lang="zh-TW" altLang="en-US" sz="2000" b="1" dirty="0">
                <a:solidFill>
                  <a:schemeClr val="bg1"/>
                </a:solidFill>
                <a:latin typeface="Microsoft JhengHei"/>
                <a:ea typeface="Microsoft JhengHei"/>
              </a:rPr>
              <a:t>局部變數</a:t>
            </a:r>
          </a:p>
          <a:p>
            <a:r>
              <a:rPr lang="zh-TW" altLang="en-US" sz="2000" b="1" dirty="0">
                <a:solidFill>
                  <a:schemeClr val="bg1"/>
                </a:solidFill>
                <a:latin typeface="Microsoft JhengHei"/>
                <a:ea typeface="Microsoft JhengHei"/>
              </a:rPr>
              <a:t>    做一些事情</a:t>
            </a:r>
            <a:endParaRPr lang="en-US" altLang="zh-TW" sz="2000" b="1" dirty="0">
              <a:solidFill>
                <a:schemeClr val="bg1"/>
              </a:solidFill>
              <a:latin typeface="Microsoft JhengHei"/>
              <a:ea typeface="Microsoft JhengHei"/>
            </a:endParaRPr>
          </a:p>
          <a:p>
            <a:endParaRPr lang="zh-TW" altLang="en-US" sz="2000" b="1" dirty="0">
              <a:solidFill>
                <a:schemeClr val="bg1"/>
              </a:solidFill>
              <a:latin typeface="Microsoft JhengHei"/>
              <a:ea typeface="Microsoft JhengHei"/>
            </a:endParaRPr>
          </a:p>
          <a:p>
            <a:r>
              <a:rPr lang="zh-TW" altLang="en-US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  <a:t>    </a:t>
            </a:r>
            <a:r>
              <a:rPr lang="en-US" altLang="zh-TW" b="1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zh-TW" altLang="en-US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  <a:t> </a:t>
            </a:r>
            <a:r>
              <a:rPr lang="zh-TW" altLang="en-US" sz="2000" b="1" dirty="0">
                <a:solidFill>
                  <a:schemeClr val="bg1"/>
                </a:solidFill>
                <a:latin typeface="Microsoft JhengHei"/>
                <a:ea typeface="Microsoft JhengHei"/>
              </a:rPr>
              <a:t>回傳</a:t>
            </a:r>
          </a:p>
          <a:p>
            <a:br>
              <a:rPr lang="zh-TW" altLang="en-US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</a:br>
            <a:br>
              <a:rPr lang="zh-TW" altLang="en-US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</a:br>
            <a:b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b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zh-TW" altLang="en-US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877A924-E517-4A7D-BD2C-F044E3E11DC3}"/>
              </a:ext>
            </a:extLst>
          </p:cNvPr>
          <p:cNvSpPr txBox="1"/>
          <p:nvPr/>
        </p:nvSpPr>
        <p:spPr>
          <a:xfrm>
            <a:off x="337160" y="1907703"/>
            <a:ext cx="633171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en-US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標準庫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TW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第三方庫 </a:t>
            </a:r>
            <a:r>
              <a:rPr lang="en-US" altLang="zh-TW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en-US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別名</a:t>
            </a:r>
            <a:endParaRPr lang="zh-TW" altLang="en-US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TW" altLang="en-US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註解 不會被程式執行 給使用者看</a:t>
            </a:r>
            <a:endParaRPr lang="zh-TW" altLang="en-US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GLOABL_VAR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name  </a:t>
            </a:r>
            <a:r>
              <a:rPr lang="en-US" altLang="zh-TW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TW" altLang="en-US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定義在外部都是叫做全局變數</a:t>
            </a:r>
            <a:endParaRPr lang="zh-TW" altLang="en-US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TW" altLang="en-US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全局變數</a:t>
            </a:r>
            <a:endParaRPr lang="zh-TW" altLang="en-US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b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2000" b="1" dirty="0">
                <a:solidFill>
                  <a:srgbClr val="5AB0FF"/>
                </a:solidFill>
                <a:latin typeface="Microsoft JhengHei"/>
                <a:ea typeface="Microsoft JhengHei"/>
              </a:rPr>
              <a:t>def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en-US" b="1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變數名稱</a:t>
            </a:r>
            <a:r>
              <a:rPr lang="en-US" altLang="zh-TW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en-US" b="1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引數</a:t>
            </a:r>
            <a:r>
              <a:rPr lang="en-US" altLang="zh-TW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en-US" b="1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引數</a:t>
            </a:r>
            <a:r>
              <a:rPr lang="en-US" altLang="zh-TW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zh-TW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b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local_var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一些變數 </a:t>
            </a:r>
            <a:r>
              <a:rPr lang="en-US" altLang="zh-TW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TW" altLang="en-US" b="1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局部變數</a:t>
            </a:r>
            <a:endParaRPr lang="zh-TW" altLang="en-US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做一些事情</a:t>
            </a:r>
          </a:p>
          <a:p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回傳</a:t>
            </a:r>
          </a:p>
          <a:p>
            <a:b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b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b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br>
              <a:rPr lang="zh-TW" alt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zh-TW" altLang="en-US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769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函式基礎：return vs 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DEF · RETURN ≠ 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PY03_函式與程式組織.ipynb · 函式基礎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5AB0FF"/>
                </a:solidFill>
                <a:latin typeface="Consolas"/>
                <a:ea typeface="Microsoft JhengHei"/>
                <a:cs typeface="Microsoft JhengHei"/>
              </a:rPr>
              <a:t>def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c_to_f_return(c):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</a:t>
            </a:r>
            <a:r>
              <a:rPr sz="1600" b="1">
                <a:solidFill>
                  <a:srgbClr val="FF6B6B"/>
                </a:solidFill>
                <a:latin typeface="Consolas"/>
                <a:ea typeface="Microsoft JhengHei"/>
                <a:cs typeface="Microsoft JhengHei"/>
              </a:rPr>
              <a:t>return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c</a:t>
            </a:r>
            <a:r>
              <a:rPr sz="1600" b="1">
                <a:solidFill>
                  <a:srgbClr val="FFB454"/>
                </a:solidFill>
                <a:latin typeface="Consolas"/>
                <a:ea typeface="Microsoft JhengHei"/>
                <a:cs typeface="Microsoft JhengHei"/>
              </a:rPr>
              <a:t>*9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/5 + 32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交回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5AB0FF"/>
                </a:solidFill>
                <a:latin typeface="Consolas"/>
                <a:ea typeface="Microsoft JhengHei"/>
                <a:cs typeface="Microsoft JhengHei"/>
              </a:rPr>
              <a:t>def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c_to_f_print(c):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print(c</a:t>
            </a:r>
            <a:r>
              <a:rPr sz="1600" b="1">
                <a:solidFill>
                  <a:srgbClr val="FFB454"/>
                </a:solidFill>
                <a:latin typeface="Consolas"/>
                <a:ea typeface="Microsoft JhengHei"/>
                <a:cs typeface="Microsoft JhengHei"/>
              </a:rPr>
              <a:t>*9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/5 + 32)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只顯示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f1 = c_to_f_return(25)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print(f1 + 1)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可再用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f2 = c_to_f_print(25)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print(f2)   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971800"/>
            <a:ext cx="1280160" cy="68580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輸入 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898648"/>
            <a:ext cx="1737360" cy="8229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C79BFF"/>
                </a:solidFill>
                <a:latin typeface="Microsoft JhengHei"/>
                <a:ea typeface="Microsoft JhengHei"/>
                <a:cs typeface="Microsoft JhengHei"/>
              </a:rPr>
              <a:t>函式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C79BFF"/>
                </a:solidFill>
                <a:latin typeface="Microsoft JhengHei"/>
                <a:ea typeface="Microsoft JhengHei"/>
                <a:cs typeface="Microsoft JhengHei"/>
              </a:rPr>
              <a:t>機器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18120" y="3310128"/>
            <a:ext cx="228600" cy="0"/>
          </a:xfrm>
          <a:prstGeom prst="line">
            <a:avLst/>
          </a:prstGeom>
          <a:ln w="28575">
            <a:solidFill>
              <a:srgbClr val="5AB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12680" y="2898648"/>
            <a:ext cx="1554480" cy="822960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return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77.0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84080" y="3310128"/>
            <a:ext cx="228600" cy="0"/>
          </a:xfrm>
          <a:prstGeom prst="line">
            <a:avLst/>
          </a:prstGeom>
          <a:ln w="28575">
            <a:solidFill>
              <a:srgbClr val="6FE3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46720" y="4297680"/>
            <a:ext cx="1737360" cy="777240"/>
          </a:xfrm>
          <a:prstGeom prst="rect">
            <a:avLst/>
          </a:prstGeom>
          <a:solidFill>
            <a:srgbClr val="322910"/>
          </a:solidFill>
          <a:ln w="15875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print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公告欄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15400" y="3721608"/>
            <a:ext cx="0" cy="576072"/>
          </a:xfrm>
          <a:prstGeom prst="line">
            <a:avLst/>
          </a:prstGeom>
          <a:ln w="28575">
            <a:solidFill>
              <a:srgbClr val="9AA4B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012680" y="4315968"/>
            <a:ext cx="1554480" cy="731520"/>
          </a:xfrm>
          <a:prstGeom prst="rect">
            <a:avLst/>
          </a:prstGeom>
          <a:solidFill>
            <a:srgbClr val="222936"/>
          </a:solidFill>
          <a:ln w="1587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None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84080" y="4681728"/>
            <a:ext cx="228600" cy="0"/>
          </a:xfrm>
          <a:prstGeom prst="line">
            <a:avLst/>
          </a:prstGeom>
          <a:ln w="28575">
            <a:solidFill>
              <a:srgbClr val="9AA4B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37960" y="5303520"/>
            <a:ext cx="51206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只看得到、拿不回來 → 存起來是 None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參數的多種樣貌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POSITIONAL · DEFAULT · *ARGS · **KWARGS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PY03_函式與程式組織.ipynb · 參數的多種樣貌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5AB0FF"/>
                </a:solidFill>
                <a:latin typeface="Consolas"/>
                <a:ea typeface="Microsoft JhengHei"/>
                <a:cs typeface="Microsoft JhengHei"/>
              </a:rPr>
              <a:t>def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greet(greeting, </a:t>
            </a:r>
            <a:r>
              <a:rPr sz="1600" b="1">
                <a:solidFill>
                  <a:srgbClr val="FFB454"/>
                </a:solidFill>
                <a:latin typeface="Consolas"/>
                <a:ea typeface="Microsoft JhengHei"/>
                <a:cs typeface="Microsoft JhengHei"/>
              </a:rPr>
              <a:t>*names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      punc='。', </a:t>
            </a:r>
            <a:r>
              <a:rPr sz="1600" b="1">
                <a:solidFill>
                  <a:srgbClr val="FFB454"/>
                </a:solidFill>
                <a:latin typeface="Consolas"/>
                <a:ea typeface="Microsoft JhengHei"/>
                <a:cs typeface="Microsoft JhengHei"/>
              </a:rPr>
              <a:t>**opts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who = '、'.join(names) or '大家'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line = f'{greeting}，{who}{punc}'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</a:t>
            </a: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for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k, v </a:t>
            </a: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in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opts.items():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    line += f'（{k}={v}）'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</a:t>
            </a:r>
            <a:r>
              <a:rPr sz="1600" b="1">
                <a:solidFill>
                  <a:srgbClr val="FF6B6B"/>
                </a:solidFill>
                <a:latin typeface="Consolas"/>
                <a:ea typeface="Microsoft JhengHei"/>
                <a:cs typeface="Microsoft JhengHei"/>
              </a:rPr>
              <a:t>return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926080"/>
            <a:ext cx="2468880" cy="603504"/>
          </a:xfrm>
          <a:prstGeom prst="rect">
            <a:avLst/>
          </a:prstGeom>
          <a:solidFill>
            <a:srgbClr val="0E1116"/>
          </a:solidFill>
          <a:ln w="2540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greeting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926080"/>
            <a:ext cx="256032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必填（位置）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3621024"/>
            <a:ext cx="2468880" cy="603504"/>
          </a:xfrm>
          <a:prstGeom prst="rect">
            <a:avLst/>
          </a:prstGeom>
          <a:solidFill>
            <a:srgbClr val="0E1116"/>
          </a:solidFill>
          <a:ln w="254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*names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621024"/>
            <a:ext cx="256032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任意加點 → tuple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4315968"/>
            <a:ext cx="2468880" cy="603504"/>
          </a:xfrm>
          <a:prstGeom prst="rect">
            <a:avLst/>
          </a:prstGeom>
          <a:solidFill>
            <a:srgbClr val="0E1116"/>
          </a:solidFill>
          <a:ln w="25400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punc='。'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315968"/>
            <a:ext cx="256032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預設（可省略）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5010912"/>
            <a:ext cx="2468880" cy="603504"/>
          </a:xfrm>
          <a:prstGeom prst="rect">
            <a:avLst/>
          </a:prstGeom>
          <a:solidFill>
            <a:srgbClr val="0E1116"/>
          </a:solidFill>
          <a:ln w="254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**opts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5010912"/>
            <a:ext cx="256032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額外備註 → 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724143"/>
            <a:ext cx="52120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順序：一般→預設→*args→**kwargs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純函式 vs 副作用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PURE FUNCTION VS SIDE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PY03_函式與程式組織.ipynb · 純函式與副作用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5AB0FF"/>
                </a:solidFill>
                <a:latin typeface="Consolas"/>
                <a:ea typeface="Microsoft JhengHei"/>
                <a:cs typeface="Microsoft JhengHei"/>
              </a:rPr>
              <a:t>def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add_impure(nums, v):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nums.append(v)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改到傳入！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</a:t>
            </a:r>
            <a:r>
              <a:rPr sz="1600" b="1">
                <a:solidFill>
                  <a:srgbClr val="FF6B6B"/>
                </a:solidFill>
                <a:latin typeface="Consolas"/>
                <a:ea typeface="Microsoft JhengHei"/>
                <a:cs typeface="Microsoft JhengHei"/>
              </a:rPr>
              <a:t>return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sum(nums)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5AB0FF"/>
                </a:solidFill>
                <a:latin typeface="Consolas"/>
                <a:ea typeface="Microsoft JhengHei"/>
                <a:cs typeface="Microsoft JhengHei"/>
              </a:rPr>
              <a:t>def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add_pure(nums, v):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new = nums + [v]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造新清單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</a:t>
            </a:r>
            <a:r>
              <a:rPr sz="1600" b="1">
                <a:solidFill>
                  <a:srgbClr val="FF6B6B"/>
                </a:solidFill>
                <a:latin typeface="Consolas"/>
                <a:ea typeface="Microsoft JhengHei"/>
                <a:cs typeface="Microsoft JhengHei"/>
              </a:rPr>
              <a:t>return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sum(new)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data = [10, 20, 30]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add_impure(data, 40)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data 被改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add_pure(data, 40)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data 不變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971800"/>
            <a:ext cx="2468880" cy="1645920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純函式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自動販賣機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同輸入→同輸出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不動原始資料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2971800"/>
            <a:ext cx="2468880" cy="1645920"/>
          </a:xfrm>
          <a:prstGeom prst="rect">
            <a:avLst/>
          </a:prstGeom>
          <a:solidFill>
            <a:srgbClr val="3A1619"/>
          </a:solidFill>
          <a:ln w="15875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有副作用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偷改隔壁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改到外部清單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別處會壞掉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846320"/>
            <a:ext cx="521208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好測試、好重用、不偷改別人資料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要改就回傳「新的一份」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NumPy：整齊的櫃子格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4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ARRAY · SHAPE · RESHAPE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PY04_NumPy 數值運算.ipynb · 陣列建立與形狀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import numpy as np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nums = np.arange(12)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0..11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nums.shape 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(12,)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grid = nums.reshape(3, 4)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grid.shape 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(3, 4)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np.vstack([top, grid])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往下疊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88920"/>
            <a:ext cx="36576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一維 (12,)：一排格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3118104"/>
            <a:ext cx="548640" cy="45720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41464" y="3118104"/>
            <a:ext cx="548640" cy="45720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44968" y="3118104"/>
            <a:ext cx="548640" cy="45720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48472" y="3118104"/>
            <a:ext cx="548640" cy="45720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1976" y="3118104"/>
            <a:ext cx="548640" cy="45720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55480" y="3118104"/>
            <a:ext cx="548640" cy="45720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794760"/>
            <a:ext cx="45720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二維 (3,4)：多排櫃體（reshape）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4105656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41464" y="4105656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44968" y="4105656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48472" y="4105656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4581144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41464" y="4581144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44968" y="4581144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48472" y="4581144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5056632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41464" y="5056632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44968" y="5056632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48472" y="5056632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669280"/>
            <a:ext cx="52120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shape＝幾排幾格；dtype＝裝哪種型別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張量 tensor：從一顆到魔術方塊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4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SCALAR · VECTOR · MATRIX · TENSOR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PY04_NumPy 數值運算.ipynb · 形狀 shape 與維度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np.array(5)    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0D  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np.array([1,2,3])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1D  (3,)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np.zeros((3, 4))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2D  (3,4)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np.zeros((2, 3, 4))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3D  (2,3,4)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維度＝定位一格要幾個索引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3154680"/>
            <a:ext cx="502920" cy="502920"/>
          </a:xfrm>
          <a:prstGeom prst="ellipse">
            <a:avLst/>
          </a:prstGeom>
          <a:solidFill>
            <a:srgbClr val="322910"/>
          </a:solidFill>
          <a:ln w="15875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0D 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3154680"/>
            <a:ext cx="384048" cy="50292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64424" y="3154680"/>
            <a:ext cx="384048" cy="50292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85048" y="3154680"/>
            <a:ext cx="384048" cy="50292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79" y="3703320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1D (3,)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3017520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64624" y="3017520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985248" y="3017520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0" y="3438144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64624" y="3438144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985248" y="3438144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98280" y="3886200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2D (2,3)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81360" y="3208528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265408" y="3208528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881360" y="3592576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265408" y="3592576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064240" y="3025647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1448288" y="3025647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064240" y="3409696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48288" y="3409696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247120" y="2842768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631168" y="2842768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247120" y="3226816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631168" y="3226816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52760" y="4031488"/>
            <a:ext cx="1737360" cy="2778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dirty="0">
                <a:solidFill>
                  <a:srgbClr val="C79BFF"/>
                </a:solidFill>
                <a:latin typeface="Microsoft JhengHei"/>
                <a:ea typeface="Microsoft JhengHei"/>
                <a:cs typeface="Microsoft JhengHei"/>
              </a:rPr>
              <a:t>3D </a:t>
            </a:r>
            <a:r>
              <a:rPr sz="1600" b="1" dirty="0" err="1">
                <a:solidFill>
                  <a:srgbClr val="C79BFF"/>
                </a:solidFill>
                <a:latin typeface="Microsoft JhengHei"/>
                <a:ea typeface="Microsoft JhengHei"/>
                <a:cs typeface="Microsoft JhengHei"/>
              </a:rPr>
              <a:t>方塊</a:t>
            </a:r>
            <a:endParaRPr sz="1600" b="1" dirty="0">
              <a:solidFill>
                <a:srgbClr val="C79B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37960" y="4892040"/>
            <a:ext cx="52120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dirty="0" err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維度＝定位一格要幾個索引</a:t>
            </a:r>
            <a:endParaRPr sz="1600" b="1" dirty="0">
              <a:solidFill>
                <a:srgbClr val="F2F5FA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dirty="0" err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圖片</a:t>
            </a:r>
            <a:r>
              <a:rPr sz="1600" b="1" dirty="0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(</a:t>
            </a:r>
            <a:r>
              <a:rPr sz="1600" b="1" dirty="0" err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高,寬,色版</a:t>
            </a:r>
            <a:r>
              <a:rPr sz="1600" b="1" dirty="0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)、</a:t>
            </a:r>
            <a:r>
              <a:rPr sz="1600" b="1" dirty="0" err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一批資料</a:t>
            </a:r>
            <a:r>
              <a:rPr sz="1600" b="1" dirty="0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(</a:t>
            </a:r>
            <a:r>
              <a:rPr sz="1600" b="1" dirty="0" err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筆數,特徵</a:t>
            </a:r>
            <a:r>
              <a:rPr sz="1600" b="1" dirty="0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) </a:t>
            </a:r>
            <a:r>
              <a:rPr sz="1600" b="1" dirty="0" err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都是張量</a:t>
            </a:r>
            <a:endParaRPr sz="1600" b="1" dirty="0">
              <a:solidFill>
                <a:srgbClr val="F2F5FA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75759826-A01E-4E7D-BCCB-27CAE3978F16}"/>
              </a:ext>
            </a:extLst>
          </p:cNvPr>
          <p:cNvGrpSpPr/>
          <p:nvPr/>
        </p:nvGrpSpPr>
        <p:grpSpPr>
          <a:xfrm>
            <a:off x="7002127" y="2986635"/>
            <a:ext cx="3840537" cy="1203750"/>
            <a:chOff x="9296400" y="2255519"/>
            <a:chExt cx="1225296" cy="384048"/>
          </a:xfrm>
          <a:solidFill>
            <a:schemeClr val="bg1">
              <a:lumMod val="50000"/>
            </a:schemeClr>
          </a:solidFill>
        </p:grpSpPr>
        <p:sp>
          <p:nvSpPr>
            <p:cNvPr id="42" name="Rectangle 20">
              <a:extLst>
                <a:ext uri="{FF2B5EF4-FFF2-40B4-BE49-F238E27FC236}">
                  <a16:creationId xmlns:a16="http://schemas.microsoft.com/office/drawing/2014/main" id="{640F0BEE-8D61-48AD-99A5-D49A89D72457}"/>
                </a:ext>
              </a:extLst>
            </p:cNvPr>
            <p:cNvSpPr/>
            <p:nvPr/>
          </p:nvSpPr>
          <p:spPr>
            <a:xfrm>
              <a:off x="9296400" y="2255519"/>
              <a:ext cx="384048" cy="384048"/>
            </a:xfrm>
            <a:prstGeom prst="rect">
              <a:avLst/>
            </a:prstGeom>
            <a:grpFill/>
            <a:ln w="15875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3" name="Rectangle 21">
              <a:extLst>
                <a:ext uri="{FF2B5EF4-FFF2-40B4-BE49-F238E27FC236}">
                  <a16:creationId xmlns:a16="http://schemas.microsoft.com/office/drawing/2014/main" id="{1106AD0F-BCA0-4B5B-A4C2-2BF76B04AFF8}"/>
                </a:ext>
              </a:extLst>
            </p:cNvPr>
            <p:cNvSpPr/>
            <p:nvPr/>
          </p:nvSpPr>
          <p:spPr>
            <a:xfrm>
              <a:off x="9717024" y="2255519"/>
              <a:ext cx="384048" cy="384048"/>
            </a:xfrm>
            <a:prstGeom prst="rect">
              <a:avLst/>
            </a:prstGeom>
            <a:grpFill/>
            <a:ln w="15875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4" name="Rectangle 22">
              <a:extLst>
                <a:ext uri="{FF2B5EF4-FFF2-40B4-BE49-F238E27FC236}">
                  <a16:creationId xmlns:a16="http://schemas.microsoft.com/office/drawing/2014/main" id="{E78A3ADE-FCD4-4C27-B213-396E3CE8BAF8}"/>
                </a:ext>
              </a:extLst>
            </p:cNvPr>
            <p:cNvSpPr/>
            <p:nvPr/>
          </p:nvSpPr>
          <p:spPr>
            <a:xfrm>
              <a:off x="10137648" y="2255519"/>
              <a:ext cx="384048" cy="384048"/>
            </a:xfrm>
            <a:prstGeom prst="rect">
              <a:avLst/>
            </a:prstGeom>
            <a:grpFill/>
            <a:ln w="15875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張量 tensor：從一顆到魔術方塊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4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SCALAR · VECTOR · MATRIX · TENSOR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PY04_NumPy 數值運算.ipynb · 形狀 shape 與維度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np.array(5)    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0D  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np.array([1,2,3])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1D  (3,)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np.zeros((3, 4))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2D  (3,4)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np.zeros((2, 3, 4))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3D  (2,3,4)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維度＝定位一格要幾個索引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556764"/>
            <a:ext cx="502920" cy="502920"/>
          </a:xfrm>
          <a:prstGeom prst="ellipse">
            <a:avLst/>
          </a:prstGeom>
          <a:solidFill>
            <a:srgbClr val="322910"/>
          </a:solidFill>
          <a:ln w="15875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105404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0D 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556764"/>
            <a:ext cx="384048" cy="50292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64424" y="556764"/>
            <a:ext cx="384048" cy="50292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85048" y="556764"/>
            <a:ext cx="384048" cy="50292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79" y="1105404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1D (3,)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419604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64624" y="419604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985248" y="419604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0" y="840228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64624" y="840228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985248" y="840228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98280" y="1288284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dirty="0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2D (2,3)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05D2E93-385E-4DF8-874F-D434EFD9F71E}"/>
              </a:ext>
            </a:extLst>
          </p:cNvPr>
          <p:cNvGrpSpPr/>
          <p:nvPr/>
        </p:nvGrpSpPr>
        <p:grpSpPr>
          <a:xfrm>
            <a:off x="7138033" y="3164749"/>
            <a:ext cx="859535" cy="859535"/>
            <a:chOff x="10881360" y="602484"/>
            <a:chExt cx="1115568" cy="1115568"/>
          </a:xfrm>
        </p:grpSpPr>
        <p:sp>
          <p:nvSpPr>
            <p:cNvPr id="28" name="Rectangle 27"/>
            <p:cNvSpPr/>
            <p:nvPr/>
          </p:nvSpPr>
          <p:spPr>
            <a:xfrm>
              <a:off x="10881360" y="96824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1265408" y="96824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881360" y="135229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1265408" y="135229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1064240" y="785363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1448288" y="785363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064240" y="116941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1448288" y="116941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1247120" y="60248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1631168" y="60248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1247120" y="98653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1631168" y="98653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10652760" y="1513410"/>
            <a:ext cx="1737360" cy="2778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dirty="0">
                <a:solidFill>
                  <a:srgbClr val="C79BFF"/>
                </a:solidFill>
                <a:latin typeface="Microsoft JhengHei"/>
                <a:ea typeface="Microsoft JhengHei"/>
                <a:cs typeface="Microsoft JhengHei"/>
              </a:rPr>
              <a:t>3D </a:t>
            </a:r>
            <a:r>
              <a:rPr sz="1600" b="1" dirty="0" err="1">
                <a:solidFill>
                  <a:srgbClr val="C79BFF"/>
                </a:solidFill>
                <a:latin typeface="Microsoft JhengHei"/>
                <a:ea typeface="Microsoft JhengHei"/>
                <a:cs typeface="Microsoft JhengHei"/>
              </a:rPr>
              <a:t>方塊</a:t>
            </a:r>
            <a:endParaRPr sz="1600" b="1" dirty="0">
              <a:solidFill>
                <a:srgbClr val="C79B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533BAA1F-88F9-4028-9625-38F58271FCFF}"/>
              </a:ext>
            </a:extLst>
          </p:cNvPr>
          <p:cNvGrpSpPr/>
          <p:nvPr/>
        </p:nvGrpSpPr>
        <p:grpSpPr>
          <a:xfrm>
            <a:off x="8492629" y="3156724"/>
            <a:ext cx="859535" cy="859535"/>
            <a:chOff x="10881360" y="602484"/>
            <a:chExt cx="1115568" cy="1115568"/>
          </a:xfrm>
        </p:grpSpPr>
        <p:sp>
          <p:nvSpPr>
            <p:cNvPr id="63" name="Rectangle 27">
              <a:extLst>
                <a:ext uri="{FF2B5EF4-FFF2-40B4-BE49-F238E27FC236}">
                  <a16:creationId xmlns:a16="http://schemas.microsoft.com/office/drawing/2014/main" id="{9B6078A3-F270-45B6-B1E4-25650A53F45C}"/>
                </a:ext>
              </a:extLst>
            </p:cNvPr>
            <p:cNvSpPr/>
            <p:nvPr/>
          </p:nvSpPr>
          <p:spPr>
            <a:xfrm>
              <a:off x="10881360" y="96824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57E24E92-3A63-4FD0-BA34-6ED7C56CA46B}"/>
                </a:ext>
              </a:extLst>
            </p:cNvPr>
            <p:cNvSpPr/>
            <p:nvPr/>
          </p:nvSpPr>
          <p:spPr>
            <a:xfrm>
              <a:off x="11265408" y="96824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65" name="Rectangle 29">
              <a:extLst>
                <a:ext uri="{FF2B5EF4-FFF2-40B4-BE49-F238E27FC236}">
                  <a16:creationId xmlns:a16="http://schemas.microsoft.com/office/drawing/2014/main" id="{4DA66C9A-A926-4F39-A397-5AE43D43A4AA}"/>
                </a:ext>
              </a:extLst>
            </p:cNvPr>
            <p:cNvSpPr/>
            <p:nvPr/>
          </p:nvSpPr>
          <p:spPr>
            <a:xfrm>
              <a:off x="10881360" y="135229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66" name="Rectangle 30">
              <a:extLst>
                <a:ext uri="{FF2B5EF4-FFF2-40B4-BE49-F238E27FC236}">
                  <a16:creationId xmlns:a16="http://schemas.microsoft.com/office/drawing/2014/main" id="{0DA52427-0AA6-4EFE-B1F5-E8A7F71536AD}"/>
                </a:ext>
              </a:extLst>
            </p:cNvPr>
            <p:cNvSpPr/>
            <p:nvPr/>
          </p:nvSpPr>
          <p:spPr>
            <a:xfrm>
              <a:off x="11265408" y="135229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67" name="Rectangle 31">
              <a:extLst>
                <a:ext uri="{FF2B5EF4-FFF2-40B4-BE49-F238E27FC236}">
                  <a16:creationId xmlns:a16="http://schemas.microsoft.com/office/drawing/2014/main" id="{A74537A9-76B9-434B-B15A-171E0DF10033}"/>
                </a:ext>
              </a:extLst>
            </p:cNvPr>
            <p:cNvSpPr/>
            <p:nvPr/>
          </p:nvSpPr>
          <p:spPr>
            <a:xfrm>
              <a:off x="11064240" y="785363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68" name="Rectangle 32">
              <a:extLst>
                <a:ext uri="{FF2B5EF4-FFF2-40B4-BE49-F238E27FC236}">
                  <a16:creationId xmlns:a16="http://schemas.microsoft.com/office/drawing/2014/main" id="{EDE4A9A8-F681-40F6-9A09-14DB92486337}"/>
                </a:ext>
              </a:extLst>
            </p:cNvPr>
            <p:cNvSpPr/>
            <p:nvPr/>
          </p:nvSpPr>
          <p:spPr>
            <a:xfrm>
              <a:off x="11448288" y="785363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69" name="Rectangle 33">
              <a:extLst>
                <a:ext uri="{FF2B5EF4-FFF2-40B4-BE49-F238E27FC236}">
                  <a16:creationId xmlns:a16="http://schemas.microsoft.com/office/drawing/2014/main" id="{AF84B9D2-7AE3-4651-8CFC-93A5F270DC2D}"/>
                </a:ext>
              </a:extLst>
            </p:cNvPr>
            <p:cNvSpPr/>
            <p:nvPr/>
          </p:nvSpPr>
          <p:spPr>
            <a:xfrm>
              <a:off x="11064240" y="116941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70" name="Rectangle 34">
              <a:extLst>
                <a:ext uri="{FF2B5EF4-FFF2-40B4-BE49-F238E27FC236}">
                  <a16:creationId xmlns:a16="http://schemas.microsoft.com/office/drawing/2014/main" id="{46925372-83D3-45AF-9B63-67D84F820031}"/>
                </a:ext>
              </a:extLst>
            </p:cNvPr>
            <p:cNvSpPr/>
            <p:nvPr/>
          </p:nvSpPr>
          <p:spPr>
            <a:xfrm>
              <a:off x="11448288" y="116941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71" name="Rectangle 35">
              <a:extLst>
                <a:ext uri="{FF2B5EF4-FFF2-40B4-BE49-F238E27FC236}">
                  <a16:creationId xmlns:a16="http://schemas.microsoft.com/office/drawing/2014/main" id="{DE8CE2AD-F151-4D8D-B450-F6DE58C37FF3}"/>
                </a:ext>
              </a:extLst>
            </p:cNvPr>
            <p:cNvSpPr/>
            <p:nvPr/>
          </p:nvSpPr>
          <p:spPr>
            <a:xfrm>
              <a:off x="11247120" y="60248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72" name="Rectangle 36">
              <a:extLst>
                <a:ext uri="{FF2B5EF4-FFF2-40B4-BE49-F238E27FC236}">
                  <a16:creationId xmlns:a16="http://schemas.microsoft.com/office/drawing/2014/main" id="{C6A1B41A-1A72-4DE9-8F4E-9129D0CDE3B3}"/>
                </a:ext>
              </a:extLst>
            </p:cNvPr>
            <p:cNvSpPr/>
            <p:nvPr/>
          </p:nvSpPr>
          <p:spPr>
            <a:xfrm>
              <a:off x="11631168" y="60248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73" name="Rectangle 37">
              <a:extLst>
                <a:ext uri="{FF2B5EF4-FFF2-40B4-BE49-F238E27FC236}">
                  <a16:creationId xmlns:a16="http://schemas.microsoft.com/office/drawing/2014/main" id="{545429F8-E90A-4F10-B9AC-94609CDD8E49}"/>
                </a:ext>
              </a:extLst>
            </p:cNvPr>
            <p:cNvSpPr/>
            <p:nvPr/>
          </p:nvSpPr>
          <p:spPr>
            <a:xfrm>
              <a:off x="11247120" y="98653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74" name="Rectangle 38">
              <a:extLst>
                <a:ext uri="{FF2B5EF4-FFF2-40B4-BE49-F238E27FC236}">
                  <a16:creationId xmlns:a16="http://schemas.microsoft.com/office/drawing/2014/main" id="{AEDF603F-8FEE-423A-BDF3-371C6EECFEBD}"/>
                </a:ext>
              </a:extLst>
            </p:cNvPr>
            <p:cNvSpPr/>
            <p:nvPr/>
          </p:nvSpPr>
          <p:spPr>
            <a:xfrm>
              <a:off x="11631168" y="98653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</p:grpSp>
      <p:grpSp>
        <p:nvGrpSpPr>
          <p:cNvPr id="75" name="群組 74">
            <a:extLst>
              <a:ext uri="{FF2B5EF4-FFF2-40B4-BE49-F238E27FC236}">
                <a16:creationId xmlns:a16="http://schemas.microsoft.com/office/drawing/2014/main" id="{76B34310-628B-46C3-AC9D-8CE4B89F3ED7}"/>
              </a:ext>
            </a:extLst>
          </p:cNvPr>
          <p:cNvGrpSpPr/>
          <p:nvPr/>
        </p:nvGrpSpPr>
        <p:grpSpPr>
          <a:xfrm>
            <a:off x="9798622" y="3146416"/>
            <a:ext cx="859535" cy="859535"/>
            <a:chOff x="10881360" y="602484"/>
            <a:chExt cx="1115568" cy="1115568"/>
          </a:xfrm>
        </p:grpSpPr>
        <p:sp>
          <p:nvSpPr>
            <p:cNvPr id="76" name="Rectangle 27">
              <a:extLst>
                <a:ext uri="{FF2B5EF4-FFF2-40B4-BE49-F238E27FC236}">
                  <a16:creationId xmlns:a16="http://schemas.microsoft.com/office/drawing/2014/main" id="{776CA687-EBF9-4EE9-9130-02FCC2E7ADBA}"/>
                </a:ext>
              </a:extLst>
            </p:cNvPr>
            <p:cNvSpPr/>
            <p:nvPr/>
          </p:nvSpPr>
          <p:spPr>
            <a:xfrm>
              <a:off x="10881360" y="96824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2F473E53-48E7-4CCF-8A9C-2397C7FB4B79}"/>
                </a:ext>
              </a:extLst>
            </p:cNvPr>
            <p:cNvSpPr/>
            <p:nvPr/>
          </p:nvSpPr>
          <p:spPr>
            <a:xfrm>
              <a:off x="11265408" y="96824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78" name="Rectangle 29">
              <a:extLst>
                <a:ext uri="{FF2B5EF4-FFF2-40B4-BE49-F238E27FC236}">
                  <a16:creationId xmlns:a16="http://schemas.microsoft.com/office/drawing/2014/main" id="{5B3C22F2-FCA2-44CC-92FC-A14A8AFE65C9}"/>
                </a:ext>
              </a:extLst>
            </p:cNvPr>
            <p:cNvSpPr/>
            <p:nvPr/>
          </p:nvSpPr>
          <p:spPr>
            <a:xfrm>
              <a:off x="10881360" y="135229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79" name="Rectangle 30">
              <a:extLst>
                <a:ext uri="{FF2B5EF4-FFF2-40B4-BE49-F238E27FC236}">
                  <a16:creationId xmlns:a16="http://schemas.microsoft.com/office/drawing/2014/main" id="{343FCFDE-6037-4250-BB78-DCCB97AC5189}"/>
                </a:ext>
              </a:extLst>
            </p:cNvPr>
            <p:cNvSpPr/>
            <p:nvPr/>
          </p:nvSpPr>
          <p:spPr>
            <a:xfrm>
              <a:off x="11265408" y="135229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80" name="Rectangle 31">
              <a:extLst>
                <a:ext uri="{FF2B5EF4-FFF2-40B4-BE49-F238E27FC236}">
                  <a16:creationId xmlns:a16="http://schemas.microsoft.com/office/drawing/2014/main" id="{53B4ADD2-2822-4873-B0FF-1C62ED012E0B}"/>
                </a:ext>
              </a:extLst>
            </p:cNvPr>
            <p:cNvSpPr/>
            <p:nvPr/>
          </p:nvSpPr>
          <p:spPr>
            <a:xfrm>
              <a:off x="11064240" y="785363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81" name="Rectangle 32">
              <a:extLst>
                <a:ext uri="{FF2B5EF4-FFF2-40B4-BE49-F238E27FC236}">
                  <a16:creationId xmlns:a16="http://schemas.microsoft.com/office/drawing/2014/main" id="{557B7042-953F-4D0C-9348-986BB9CE943B}"/>
                </a:ext>
              </a:extLst>
            </p:cNvPr>
            <p:cNvSpPr/>
            <p:nvPr/>
          </p:nvSpPr>
          <p:spPr>
            <a:xfrm>
              <a:off x="11448288" y="785363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82" name="Rectangle 33">
              <a:extLst>
                <a:ext uri="{FF2B5EF4-FFF2-40B4-BE49-F238E27FC236}">
                  <a16:creationId xmlns:a16="http://schemas.microsoft.com/office/drawing/2014/main" id="{4EDA9272-E39A-49A2-8EFD-DC37B267D114}"/>
                </a:ext>
              </a:extLst>
            </p:cNvPr>
            <p:cNvSpPr/>
            <p:nvPr/>
          </p:nvSpPr>
          <p:spPr>
            <a:xfrm>
              <a:off x="11064240" y="116941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83" name="Rectangle 34">
              <a:extLst>
                <a:ext uri="{FF2B5EF4-FFF2-40B4-BE49-F238E27FC236}">
                  <a16:creationId xmlns:a16="http://schemas.microsoft.com/office/drawing/2014/main" id="{D6BA7608-C24A-4D76-8C6C-C7AB97E840A2}"/>
                </a:ext>
              </a:extLst>
            </p:cNvPr>
            <p:cNvSpPr/>
            <p:nvPr/>
          </p:nvSpPr>
          <p:spPr>
            <a:xfrm>
              <a:off x="11448288" y="116941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84" name="Rectangle 35">
              <a:extLst>
                <a:ext uri="{FF2B5EF4-FFF2-40B4-BE49-F238E27FC236}">
                  <a16:creationId xmlns:a16="http://schemas.microsoft.com/office/drawing/2014/main" id="{2CF6B485-3D39-4029-9867-E57E8DCFA50D}"/>
                </a:ext>
              </a:extLst>
            </p:cNvPr>
            <p:cNvSpPr/>
            <p:nvPr/>
          </p:nvSpPr>
          <p:spPr>
            <a:xfrm>
              <a:off x="11247120" y="60248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85" name="Rectangle 36">
              <a:extLst>
                <a:ext uri="{FF2B5EF4-FFF2-40B4-BE49-F238E27FC236}">
                  <a16:creationId xmlns:a16="http://schemas.microsoft.com/office/drawing/2014/main" id="{CDA3678D-900C-4D8F-AE4B-E64880078E85}"/>
                </a:ext>
              </a:extLst>
            </p:cNvPr>
            <p:cNvSpPr/>
            <p:nvPr/>
          </p:nvSpPr>
          <p:spPr>
            <a:xfrm>
              <a:off x="11631168" y="60248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86" name="Rectangle 37">
              <a:extLst>
                <a:ext uri="{FF2B5EF4-FFF2-40B4-BE49-F238E27FC236}">
                  <a16:creationId xmlns:a16="http://schemas.microsoft.com/office/drawing/2014/main" id="{F27147C4-71A1-4962-B333-A2B21FB90550}"/>
                </a:ext>
              </a:extLst>
            </p:cNvPr>
            <p:cNvSpPr/>
            <p:nvPr/>
          </p:nvSpPr>
          <p:spPr>
            <a:xfrm>
              <a:off x="11247120" y="98653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87" name="Rectangle 38">
              <a:extLst>
                <a:ext uri="{FF2B5EF4-FFF2-40B4-BE49-F238E27FC236}">
                  <a16:creationId xmlns:a16="http://schemas.microsoft.com/office/drawing/2014/main" id="{7F2F9833-4236-4926-AAB6-D14B91F6C5EA}"/>
                </a:ext>
              </a:extLst>
            </p:cNvPr>
            <p:cNvSpPr/>
            <p:nvPr/>
          </p:nvSpPr>
          <p:spPr>
            <a:xfrm>
              <a:off x="11631168" y="98653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</p:grpSp>
      <p:sp>
        <p:nvSpPr>
          <p:cNvPr id="101" name="Rectangle 27">
            <a:extLst>
              <a:ext uri="{FF2B5EF4-FFF2-40B4-BE49-F238E27FC236}">
                <a16:creationId xmlns:a16="http://schemas.microsoft.com/office/drawing/2014/main" id="{880C6A16-CEEE-443B-9FF3-F33330B4491A}"/>
              </a:ext>
            </a:extLst>
          </p:cNvPr>
          <p:cNvSpPr/>
          <p:nvPr/>
        </p:nvSpPr>
        <p:spPr>
          <a:xfrm>
            <a:off x="10881360" y="584706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2" name="Rectangle 28">
            <a:extLst>
              <a:ext uri="{FF2B5EF4-FFF2-40B4-BE49-F238E27FC236}">
                <a16:creationId xmlns:a16="http://schemas.microsoft.com/office/drawing/2014/main" id="{0C2A03D0-A9A7-434A-81BB-7132B07B103F}"/>
              </a:ext>
            </a:extLst>
          </p:cNvPr>
          <p:cNvSpPr/>
          <p:nvPr/>
        </p:nvSpPr>
        <p:spPr>
          <a:xfrm>
            <a:off x="11265408" y="584706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3" name="Rectangle 29">
            <a:extLst>
              <a:ext uri="{FF2B5EF4-FFF2-40B4-BE49-F238E27FC236}">
                <a16:creationId xmlns:a16="http://schemas.microsoft.com/office/drawing/2014/main" id="{5CCA9587-8766-4A93-80CD-0422969DF61F}"/>
              </a:ext>
            </a:extLst>
          </p:cNvPr>
          <p:cNvSpPr/>
          <p:nvPr/>
        </p:nvSpPr>
        <p:spPr>
          <a:xfrm>
            <a:off x="10881360" y="968754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4" name="Rectangle 30">
            <a:extLst>
              <a:ext uri="{FF2B5EF4-FFF2-40B4-BE49-F238E27FC236}">
                <a16:creationId xmlns:a16="http://schemas.microsoft.com/office/drawing/2014/main" id="{459EB3A2-2D20-4C5E-823D-156994DDA062}"/>
              </a:ext>
            </a:extLst>
          </p:cNvPr>
          <p:cNvSpPr/>
          <p:nvPr/>
        </p:nvSpPr>
        <p:spPr>
          <a:xfrm>
            <a:off x="11265408" y="968754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5" name="Rectangle 31">
            <a:extLst>
              <a:ext uri="{FF2B5EF4-FFF2-40B4-BE49-F238E27FC236}">
                <a16:creationId xmlns:a16="http://schemas.microsoft.com/office/drawing/2014/main" id="{4F35E287-AA24-4B4F-93A6-4DEFFF51BC19}"/>
              </a:ext>
            </a:extLst>
          </p:cNvPr>
          <p:cNvSpPr/>
          <p:nvPr/>
        </p:nvSpPr>
        <p:spPr>
          <a:xfrm>
            <a:off x="11064240" y="401825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6" name="Rectangle 32">
            <a:extLst>
              <a:ext uri="{FF2B5EF4-FFF2-40B4-BE49-F238E27FC236}">
                <a16:creationId xmlns:a16="http://schemas.microsoft.com/office/drawing/2014/main" id="{46E91306-C1BA-45F6-8509-FB1A29566842}"/>
              </a:ext>
            </a:extLst>
          </p:cNvPr>
          <p:cNvSpPr/>
          <p:nvPr/>
        </p:nvSpPr>
        <p:spPr>
          <a:xfrm>
            <a:off x="11448288" y="401825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7" name="Rectangle 33">
            <a:extLst>
              <a:ext uri="{FF2B5EF4-FFF2-40B4-BE49-F238E27FC236}">
                <a16:creationId xmlns:a16="http://schemas.microsoft.com/office/drawing/2014/main" id="{56902B69-1A0D-450A-B0B0-6CBF95123F9B}"/>
              </a:ext>
            </a:extLst>
          </p:cNvPr>
          <p:cNvSpPr/>
          <p:nvPr/>
        </p:nvSpPr>
        <p:spPr>
          <a:xfrm>
            <a:off x="11064240" y="785874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8" name="Rectangle 34">
            <a:extLst>
              <a:ext uri="{FF2B5EF4-FFF2-40B4-BE49-F238E27FC236}">
                <a16:creationId xmlns:a16="http://schemas.microsoft.com/office/drawing/2014/main" id="{CF18B581-70ED-45FC-B49F-5B6A637F294A}"/>
              </a:ext>
            </a:extLst>
          </p:cNvPr>
          <p:cNvSpPr/>
          <p:nvPr/>
        </p:nvSpPr>
        <p:spPr>
          <a:xfrm>
            <a:off x="11448288" y="785874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9" name="Rectangle 35">
            <a:extLst>
              <a:ext uri="{FF2B5EF4-FFF2-40B4-BE49-F238E27FC236}">
                <a16:creationId xmlns:a16="http://schemas.microsoft.com/office/drawing/2014/main" id="{6D57F276-E151-4933-B76E-88BD9B5D68B4}"/>
              </a:ext>
            </a:extLst>
          </p:cNvPr>
          <p:cNvSpPr/>
          <p:nvPr/>
        </p:nvSpPr>
        <p:spPr>
          <a:xfrm>
            <a:off x="11247120" y="218946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10" name="Rectangle 36">
            <a:extLst>
              <a:ext uri="{FF2B5EF4-FFF2-40B4-BE49-F238E27FC236}">
                <a16:creationId xmlns:a16="http://schemas.microsoft.com/office/drawing/2014/main" id="{F7F815F7-27C2-4323-AE12-2B92211BF426}"/>
              </a:ext>
            </a:extLst>
          </p:cNvPr>
          <p:cNvSpPr/>
          <p:nvPr/>
        </p:nvSpPr>
        <p:spPr>
          <a:xfrm>
            <a:off x="11631168" y="218946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11" name="Rectangle 37">
            <a:extLst>
              <a:ext uri="{FF2B5EF4-FFF2-40B4-BE49-F238E27FC236}">
                <a16:creationId xmlns:a16="http://schemas.microsoft.com/office/drawing/2014/main" id="{B0D484C3-0A12-4F24-ABE4-7478E6776BC8}"/>
              </a:ext>
            </a:extLst>
          </p:cNvPr>
          <p:cNvSpPr/>
          <p:nvPr/>
        </p:nvSpPr>
        <p:spPr>
          <a:xfrm>
            <a:off x="11247120" y="602994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12" name="Rectangle 38">
            <a:extLst>
              <a:ext uri="{FF2B5EF4-FFF2-40B4-BE49-F238E27FC236}">
                <a16:creationId xmlns:a16="http://schemas.microsoft.com/office/drawing/2014/main" id="{412E96CA-04A2-41EF-87A6-0CBEEDDEBB7B}"/>
              </a:ext>
            </a:extLst>
          </p:cNvPr>
          <p:cNvSpPr/>
          <p:nvPr/>
        </p:nvSpPr>
        <p:spPr>
          <a:xfrm>
            <a:off x="11631168" y="602994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13" name="TextBox 26">
            <a:extLst>
              <a:ext uri="{FF2B5EF4-FFF2-40B4-BE49-F238E27FC236}">
                <a16:creationId xmlns:a16="http://schemas.microsoft.com/office/drawing/2014/main" id="{33FF06BA-DB8A-4621-9A05-1F19B743D720}"/>
              </a:ext>
            </a:extLst>
          </p:cNvPr>
          <p:cNvSpPr txBox="1"/>
          <p:nvPr/>
        </p:nvSpPr>
        <p:spPr>
          <a:xfrm>
            <a:off x="8385048" y="4496566"/>
            <a:ext cx="1463040" cy="2778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Microsoft JhengHei"/>
                <a:ea typeface="Microsoft JhengHei"/>
                <a:cs typeface="Microsoft JhengHei"/>
              </a:rPr>
              <a:t>4</a:t>
            </a:r>
            <a:r>
              <a:rPr sz="1600" b="1" dirty="0">
                <a:solidFill>
                  <a:schemeClr val="bg1">
                    <a:lumMod val="95000"/>
                  </a:schemeClr>
                </a:solidFill>
                <a:latin typeface="Microsoft JhengHei"/>
                <a:ea typeface="Microsoft JhengHei"/>
                <a:cs typeface="Microsoft JhengHei"/>
              </a:rPr>
              <a:t>D (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Microsoft JhengHei"/>
                <a:ea typeface="Microsoft JhengHei"/>
                <a:cs typeface="Microsoft JhengHei"/>
              </a:rPr>
              <a:t>3,3,</a:t>
            </a:r>
            <a:r>
              <a:rPr sz="1600" b="1" dirty="0">
                <a:solidFill>
                  <a:schemeClr val="bg1">
                    <a:lumMod val="95000"/>
                  </a:schemeClr>
                </a:solidFill>
                <a:latin typeface="Microsoft JhengHei"/>
                <a:ea typeface="Microsoft JhengHei"/>
                <a:cs typeface="Microsoft JhengHei"/>
              </a:rPr>
              <a:t>2,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r>
              <a:rPr sz="1600" b="1" dirty="0">
                <a:solidFill>
                  <a:schemeClr val="bg1">
                    <a:lumMod val="95000"/>
                  </a:schemeClr>
                </a:solidFill>
                <a:latin typeface="Microsoft JhengHei"/>
                <a:ea typeface="Microsoft JhengHei"/>
                <a:cs typeface="Microsoft JhengHe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5175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75759826-A01E-4E7D-BCCB-27CAE3978F16}"/>
              </a:ext>
            </a:extLst>
          </p:cNvPr>
          <p:cNvGrpSpPr/>
          <p:nvPr/>
        </p:nvGrpSpPr>
        <p:grpSpPr>
          <a:xfrm>
            <a:off x="7002127" y="2451959"/>
            <a:ext cx="3840537" cy="1203750"/>
            <a:chOff x="9296400" y="2255519"/>
            <a:chExt cx="1225296" cy="384048"/>
          </a:xfrm>
          <a:solidFill>
            <a:schemeClr val="bg1">
              <a:lumMod val="50000"/>
            </a:schemeClr>
          </a:solidFill>
        </p:grpSpPr>
        <p:sp>
          <p:nvSpPr>
            <p:cNvPr id="42" name="Rectangle 20">
              <a:extLst>
                <a:ext uri="{FF2B5EF4-FFF2-40B4-BE49-F238E27FC236}">
                  <a16:creationId xmlns:a16="http://schemas.microsoft.com/office/drawing/2014/main" id="{640F0BEE-8D61-48AD-99A5-D49A89D72457}"/>
                </a:ext>
              </a:extLst>
            </p:cNvPr>
            <p:cNvSpPr/>
            <p:nvPr/>
          </p:nvSpPr>
          <p:spPr>
            <a:xfrm>
              <a:off x="9296400" y="2255519"/>
              <a:ext cx="384048" cy="384048"/>
            </a:xfrm>
            <a:prstGeom prst="rect">
              <a:avLst/>
            </a:prstGeom>
            <a:grpFill/>
            <a:ln w="15875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3" name="Rectangle 21">
              <a:extLst>
                <a:ext uri="{FF2B5EF4-FFF2-40B4-BE49-F238E27FC236}">
                  <a16:creationId xmlns:a16="http://schemas.microsoft.com/office/drawing/2014/main" id="{1106AD0F-BCA0-4B5B-A4C2-2BF76B04AFF8}"/>
                </a:ext>
              </a:extLst>
            </p:cNvPr>
            <p:cNvSpPr/>
            <p:nvPr/>
          </p:nvSpPr>
          <p:spPr>
            <a:xfrm>
              <a:off x="9717024" y="2255519"/>
              <a:ext cx="384048" cy="384048"/>
            </a:xfrm>
            <a:prstGeom prst="rect">
              <a:avLst/>
            </a:prstGeom>
            <a:grpFill/>
            <a:ln w="15875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4" name="Rectangle 22">
              <a:extLst>
                <a:ext uri="{FF2B5EF4-FFF2-40B4-BE49-F238E27FC236}">
                  <a16:creationId xmlns:a16="http://schemas.microsoft.com/office/drawing/2014/main" id="{E78A3ADE-FCD4-4C27-B213-396E3CE8BAF8}"/>
                </a:ext>
              </a:extLst>
            </p:cNvPr>
            <p:cNvSpPr/>
            <p:nvPr/>
          </p:nvSpPr>
          <p:spPr>
            <a:xfrm>
              <a:off x="10137648" y="2255519"/>
              <a:ext cx="384048" cy="384048"/>
            </a:xfrm>
            <a:prstGeom prst="rect">
              <a:avLst/>
            </a:prstGeom>
            <a:grpFill/>
            <a:ln w="15875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張量 tensor：從一顆到魔術方塊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4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SCALAR · VECTOR · MATRIX · TENSOR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PY04_NumPy 數值運算.ipynb · 形狀 shape 與維度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np.array(5)    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0D  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np.array([1,2,3])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1D  (3,)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np.zeros((3, 4))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2D  (3,4)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np.zeros((2, 3, 4))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3D  (2,3,4)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維度＝定位一格要幾個索引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556764"/>
            <a:ext cx="502920" cy="502920"/>
          </a:xfrm>
          <a:prstGeom prst="ellipse">
            <a:avLst/>
          </a:prstGeom>
          <a:solidFill>
            <a:srgbClr val="322910"/>
          </a:solidFill>
          <a:ln w="15875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105404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0D 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556764"/>
            <a:ext cx="384048" cy="50292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64424" y="556764"/>
            <a:ext cx="384048" cy="50292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85048" y="556764"/>
            <a:ext cx="384048" cy="50292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79" y="1105404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dirty="0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1D (3,)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419604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64624" y="419604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985248" y="419604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0" y="840228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64624" y="840228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985248" y="840228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98280" y="1288284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dirty="0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2D (2,3)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05D2E93-385E-4DF8-874F-D434EFD9F71E}"/>
              </a:ext>
            </a:extLst>
          </p:cNvPr>
          <p:cNvGrpSpPr/>
          <p:nvPr/>
        </p:nvGrpSpPr>
        <p:grpSpPr>
          <a:xfrm>
            <a:off x="7138033" y="2508537"/>
            <a:ext cx="859535" cy="859535"/>
            <a:chOff x="10881360" y="602484"/>
            <a:chExt cx="1115568" cy="1115568"/>
          </a:xfrm>
        </p:grpSpPr>
        <p:sp>
          <p:nvSpPr>
            <p:cNvPr id="28" name="Rectangle 27"/>
            <p:cNvSpPr/>
            <p:nvPr/>
          </p:nvSpPr>
          <p:spPr>
            <a:xfrm>
              <a:off x="10881360" y="96824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1265408" y="96824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881360" y="135229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1265408" y="135229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1064240" y="785363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1448288" y="785363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064240" y="116941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1448288" y="116941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1247120" y="60248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1631168" y="60248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1247120" y="98653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1631168" y="98653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10652760" y="1513410"/>
            <a:ext cx="1737360" cy="2778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dirty="0">
                <a:solidFill>
                  <a:srgbClr val="C79BFF"/>
                </a:solidFill>
                <a:latin typeface="Microsoft JhengHei"/>
                <a:ea typeface="Microsoft JhengHei"/>
                <a:cs typeface="Microsoft JhengHei"/>
              </a:rPr>
              <a:t>3D </a:t>
            </a:r>
            <a:r>
              <a:rPr sz="1600" b="1" dirty="0" err="1">
                <a:solidFill>
                  <a:srgbClr val="C79BFF"/>
                </a:solidFill>
                <a:latin typeface="Microsoft JhengHei"/>
                <a:ea typeface="Microsoft JhengHei"/>
                <a:cs typeface="Microsoft JhengHei"/>
              </a:rPr>
              <a:t>方塊</a:t>
            </a:r>
            <a:endParaRPr sz="1600" b="1" dirty="0">
              <a:solidFill>
                <a:srgbClr val="C79B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533BAA1F-88F9-4028-9625-38F58271FCFF}"/>
              </a:ext>
            </a:extLst>
          </p:cNvPr>
          <p:cNvGrpSpPr/>
          <p:nvPr/>
        </p:nvGrpSpPr>
        <p:grpSpPr>
          <a:xfrm>
            <a:off x="8492629" y="2500512"/>
            <a:ext cx="859535" cy="859535"/>
            <a:chOff x="10881360" y="602484"/>
            <a:chExt cx="1115568" cy="1115568"/>
          </a:xfrm>
        </p:grpSpPr>
        <p:sp>
          <p:nvSpPr>
            <p:cNvPr id="63" name="Rectangle 27">
              <a:extLst>
                <a:ext uri="{FF2B5EF4-FFF2-40B4-BE49-F238E27FC236}">
                  <a16:creationId xmlns:a16="http://schemas.microsoft.com/office/drawing/2014/main" id="{9B6078A3-F270-45B6-B1E4-25650A53F45C}"/>
                </a:ext>
              </a:extLst>
            </p:cNvPr>
            <p:cNvSpPr/>
            <p:nvPr/>
          </p:nvSpPr>
          <p:spPr>
            <a:xfrm>
              <a:off x="10881360" y="96824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57E24E92-3A63-4FD0-BA34-6ED7C56CA46B}"/>
                </a:ext>
              </a:extLst>
            </p:cNvPr>
            <p:cNvSpPr/>
            <p:nvPr/>
          </p:nvSpPr>
          <p:spPr>
            <a:xfrm>
              <a:off x="11265408" y="96824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65" name="Rectangle 29">
              <a:extLst>
                <a:ext uri="{FF2B5EF4-FFF2-40B4-BE49-F238E27FC236}">
                  <a16:creationId xmlns:a16="http://schemas.microsoft.com/office/drawing/2014/main" id="{4DA66C9A-A926-4F39-A397-5AE43D43A4AA}"/>
                </a:ext>
              </a:extLst>
            </p:cNvPr>
            <p:cNvSpPr/>
            <p:nvPr/>
          </p:nvSpPr>
          <p:spPr>
            <a:xfrm>
              <a:off x="10881360" y="135229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66" name="Rectangle 30">
              <a:extLst>
                <a:ext uri="{FF2B5EF4-FFF2-40B4-BE49-F238E27FC236}">
                  <a16:creationId xmlns:a16="http://schemas.microsoft.com/office/drawing/2014/main" id="{0DA52427-0AA6-4EFE-B1F5-E8A7F71536AD}"/>
                </a:ext>
              </a:extLst>
            </p:cNvPr>
            <p:cNvSpPr/>
            <p:nvPr/>
          </p:nvSpPr>
          <p:spPr>
            <a:xfrm>
              <a:off x="11265408" y="135229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67" name="Rectangle 31">
              <a:extLst>
                <a:ext uri="{FF2B5EF4-FFF2-40B4-BE49-F238E27FC236}">
                  <a16:creationId xmlns:a16="http://schemas.microsoft.com/office/drawing/2014/main" id="{A74537A9-76B9-434B-B15A-171E0DF10033}"/>
                </a:ext>
              </a:extLst>
            </p:cNvPr>
            <p:cNvSpPr/>
            <p:nvPr/>
          </p:nvSpPr>
          <p:spPr>
            <a:xfrm>
              <a:off x="11064240" y="785363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68" name="Rectangle 32">
              <a:extLst>
                <a:ext uri="{FF2B5EF4-FFF2-40B4-BE49-F238E27FC236}">
                  <a16:creationId xmlns:a16="http://schemas.microsoft.com/office/drawing/2014/main" id="{EDE4A9A8-F681-40F6-9A09-14DB92486337}"/>
                </a:ext>
              </a:extLst>
            </p:cNvPr>
            <p:cNvSpPr/>
            <p:nvPr/>
          </p:nvSpPr>
          <p:spPr>
            <a:xfrm>
              <a:off x="11448288" y="785363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69" name="Rectangle 33">
              <a:extLst>
                <a:ext uri="{FF2B5EF4-FFF2-40B4-BE49-F238E27FC236}">
                  <a16:creationId xmlns:a16="http://schemas.microsoft.com/office/drawing/2014/main" id="{AF84B9D2-7AE3-4651-8CFC-93A5F270DC2D}"/>
                </a:ext>
              </a:extLst>
            </p:cNvPr>
            <p:cNvSpPr/>
            <p:nvPr/>
          </p:nvSpPr>
          <p:spPr>
            <a:xfrm>
              <a:off x="11064240" y="116941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70" name="Rectangle 34">
              <a:extLst>
                <a:ext uri="{FF2B5EF4-FFF2-40B4-BE49-F238E27FC236}">
                  <a16:creationId xmlns:a16="http://schemas.microsoft.com/office/drawing/2014/main" id="{46925372-83D3-45AF-9B63-67D84F820031}"/>
                </a:ext>
              </a:extLst>
            </p:cNvPr>
            <p:cNvSpPr/>
            <p:nvPr/>
          </p:nvSpPr>
          <p:spPr>
            <a:xfrm>
              <a:off x="11448288" y="116941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71" name="Rectangle 35">
              <a:extLst>
                <a:ext uri="{FF2B5EF4-FFF2-40B4-BE49-F238E27FC236}">
                  <a16:creationId xmlns:a16="http://schemas.microsoft.com/office/drawing/2014/main" id="{DE8CE2AD-F151-4D8D-B450-F6DE58C37FF3}"/>
                </a:ext>
              </a:extLst>
            </p:cNvPr>
            <p:cNvSpPr/>
            <p:nvPr/>
          </p:nvSpPr>
          <p:spPr>
            <a:xfrm>
              <a:off x="11247120" y="60248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72" name="Rectangle 36">
              <a:extLst>
                <a:ext uri="{FF2B5EF4-FFF2-40B4-BE49-F238E27FC236}">
                  <a16:creationId xmlns:a16="http://schemas.microsoft.com/office/drawing/2014/main" id="{C6A1B41A-1A72-4DE9-8F4E-9129D0CDE3B3}"/>
                </a:ext>
              </a:extLst>
            </p:cNvPr>
            <p:cNvSpPr/>
            <p:nvPr/>
          </p:nvSpPr>
          <p:spPr>
            <a:xfrm>
              <a:off x="11631168" y="60248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73" name="Rectangle 37">
              <a:extLst>
                <a:ext uri="{FF2B5EF4-FFF2-40B4-BE49-F238E27FC236}">
                  <a16:creationId xmlns:a16="http://schemas.microsoft.com/office/drawing/2014/main" id="{545429F8-E90A-4F10-B9AC-94609CDD8E49}"/>
                </a:ext>
              </a:extLst>
            </p:cNvPr>
            <p:cNvSpPr/>
            <p:nvPr/>
          </p:nvSpPr>
          <p:spPr>
            <a:xfrm>
              <a:off x="11247120" y="98653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74" name="Rectangle 38">
              <a:extLst>
                <a:ext uri="{FF2B5EF4-FFF2-40B4-BE49-F238E27FC236}">
                  <a16:creationId xmlns:a16="http://schemas.microsoft.com/office/drawing/2014/main" id="{AEDF603F-8FEE-423A-BDF3-371C6EECFEBD}"/>
                </a:ext>
              </a:extLst>
            </p:cNvPr>
            <p:cNvSpPr/>
            <p:nvPr/>
          </p:nvSpPr>
          <p:spPr>
            <a:xfrm>
              <a:off x="11631168" y="98653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</p:grpSp>
      <p:grpSp>
        <p:nvGrpSpPr>
          <p:cNvPr id="75" name="群組 74">
            <a:extLst>
              <a:ext uri="{FF2B5EF4-FFF2-40B4-BE49-F238E27FC236}">
                <a16:creationId xmlns:a16="http://schemas.microsoft.com/office/drawing/2014/main" id="{76B34310-628B-46C3-AC9D-8CE4B89F3ED7}"/>
              </a:ext>
            </a:extLst>
          </p:cNvPr>
          <p:cNvGrpSpPr/>
          <p:nvPr/>
        </p:nvGrpSpPr>
        <p:grpSpPr>
          <a:xfrm>
            <a:off x="9798622" y="2490204"/>
            <a:ext cx="859535" cy="859535"/>
            <a:chOff x="10881360" y="602484"/>
            <a:chExt cx="1115568" cy="1115568"/>
          </a:xfrm>
        </p:grpSpPr>
        <p:sp>
          <p:nvSpPr>
            <p:cNvPr id="76" name="Rectangle 27">
              <a:extLst>
                <a:ext uri="{FF2B5EF4-FFF2-40B4-BE49-F238E27FC236}">
                  <a16:creationId xmlns:a16="http://schemas.microsoft.com/office/drawing/2014/main" id="{776CA687-EBF9-4EE9-9130-02FCC2E7ADBA}"/>
                </a:ext>
              </a:extLst>
            </p:cNvPr>
            <p:cNvSpPr/>
            <p:nvPr/>
          </p:nvSpPr>
          <p:spPr>
            <a:xfrm>
              <a:off x="10881360" y="96824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2F473E53-48E7-4CCF-8A9C-2397C7FB4B79}"/>
                </a:ext>
              </a:extLst>
            </p:cNvPr>
            <p:cNvSpPr/>
            <p:nvPr/>
          </p:nvSpPr>
          <p:spPr>
            <a:xfrm>
              <a:off x="11265408" y="96824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78" name="Rectangle 29">
              <a:extLst>
                <a:ext uri="{FF2B5EF4-FFF2-40B4-BE49-F238E27FC236}">
                  <a16:creationId xmlns:a16="http://schemas.microsoft.com/office/drawing/2014/main" id="{5B3C22F2-FCA2-44CC-92FC-A14A8AFE65C9}"/>
                </a:ext>
              </a:extLst>
            </p:cNvPr>
            <p:cNvSpPr/>
            <p:nvPr/>
          </p:nvSpPr>
          <p:spPr>
            <a:xfrm>
              <a:off x="10881360" y="135229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79" name="Rectangle 30">
              <a:extLst>
                <a:ext uri="{FF2B5EF4-FFF2-40B4-BE49-F238E27FC236}">
                  <a16:creationId xmlns:a16="http://schemas.microsoft.com/office/drawing/2014/main" id="{343FCFDE-6037-4250-BB78-DCCB97AC5189}"/>
                </a:ext>
              </a:extLst>
            </p:cNvPr>
            <p:cNvSpPr/>
            <p:nvPr/>
          </p:nvSpPr>
          <p:spPr>
            <a:xfrm>
              <a:off x="11265408" y="135229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80" name="Rectangle 31">
              <a:extLst>
                <a:ext uri="{FF2B5EF4-FFF2-40B4-BE49-F238E27FC236}">
                  <a16:creationId xmlns:a16="http://schemas.microsoft.com/office/drawing/2014/main" id="{53B4ADD2-2822-4873-B0FF-1C62ED012E0B}"/>
                </a:ext>
              </a:extLst>
            </p:cNvPr>
            <p:cNvSpPr/>
            <p:nvPr/>
          </p:nvSpPr>
          <p:spPr>
            <a:xfrm>
              <a:off x="11064240" y="785363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81" name="Rectangle 32">
              <a:extLst>
                <a:ext uri="{FF2B5EF4-FFF2-40B4-BE49-F238E27FC236}">
                  <a16:creationId xmlns:a16="http://schemas.microsoft.com/office/drawing/2014/main" id="{557B7042-953F-4D0C-9348-986BB9CE943B}"/>
                </a:ext>
              </a:extLst>
            </p:cNvPr>
            <p:cNvSpPr/>
            <p:nvPr/>
          </p:nvSpPr>
          <p:spPr>
            <a:xfrm>
              <a:off x="11448288" y="785363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82" name="Rectangle 33">
              <a:extLst>
                <a:ext uri="{FF2B5EF4-FFF2-40B4-BE49-F238E27FC236}">
                  <a16:creationId xmlns:a16="http://schemas.microsoft.com/office/drawing/2014/main" id="{4EDA9272-E39A-49A2-8EFD-DC37B267D114}"/>
                </a:ext>
              </a:extLst>
            </p:cNvPr>
            <p:cNvSpPr/>
            <p:nvPr/>
          </p:nvSpPr>
          <p:spPr>
            <a:xfrm>
              <a:off x="11064240" y="116941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83" name="Rectangle 34">
              <a:extLst>
                <a:ext uri="{FF2B5EF4-FFF2-40B4-BE49-F238E27FC236}">
                  <a16:creationId xmlns:a16="http://schemas.microsoft.com/office/drawing/2014/main" id="{D6BA7608-C24A-4D76-8C6C-C7AB97E840A2}"/>
                </a:ext>
              </a:extLst>
            </p:cNvPr>
            <p:cNvSpPr/>
            <p:nvPr/>
          </p:nvSpPr>
          <p:spPr>
            <a:xfrm>
              <a:off x="11448288" y="116941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84" name="Rectangle 35">
              <a:extLst>
                <a:ext uri="{FF2B5EF4-FFF2-40B4-BE49-F238E27FC236}">
                  <a16:creationId xmlns:a16="http://schemas.microsoft.com/office/drawing/2014/main" id="{2CF6B485-3D39-4029-9867-E57E8DCFA50D}"/>
                </a:ext>
              </a:extLst>
            </p:cNvPr>
            <p:cNvSpPr/>
            <p:nvPr/>
          </p:nvSpPr>
          <p:spPr>
            <a:xfrm>
              <a:off x="11247120" y="60248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85" name="Rectangle 36">
              <a:extLst>
                <a:ext uri="{FF2B5EF4-FFF2-40B4-BE49-F238E27FC236}">
                  <a16:creationId xmlns:a16="http://schemas.microsoft.com/office/drawing/2014/main" id="{CDA3678D-900C-4D8F-AE4B-E64880078E85}"/>
                </a:ext>
              </a:extLst>
            </p:cNvPr>
            <p:cNvSpPr/>
            <p:nvPr/>
          </p:nvSpPr>
          <p:spPr>
            <a:xfrm>
              <a:off x="11631168" y="60248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86" name="Rectangle 37">
              <a:extLst>
                <a:ext uri="{FF2B5EF4-FFF2-40B4-BE49-F238E27FC236}">
                  <a16:creationId xmlns:a16="http://schemas.microsoft.com/office/drawing/2014/main" id="{F27147C4-71A1-4962-B333-A2B21FB90550}"/>
                </a:ext>
              </a:extLst>
            </p:cNvPr>
            <p:cNvSpPr/>
            <p:nvPr/>
          </p:nvSpPr>
          <p:spPr>
            <a:xfrm>
              <a:off x="11247120" y="98653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87" name="Rectangle 38">
              <a:extLst>
                <a:ext uri="{FF2B5EF4-FFF2-40B4-BE49-F238E27FC236}">
                  <a16:creationId xmlns:a16="http://schemas.microsoft.com/office/drawing/2014/main" id="{7F2F9833-4236-4926-AAB6-D14B91F6C5EA}"/>
                </a:ext>
              </a:extLst>
            </p:cNvPr>
            <p:cNvSpPr/>
            <p:nvPr/>
          </p:nvSpPr>
          <p:spPr>
            <a:xfrm>
              <a:off x="11631168" y="98653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</p:grpSp>
      <p:sp>
        <p:nvSpPr>
          <p:cNvPr id="101" name="Rectangle 27">
            <a:extLst>
              <a:ext uri="{FF2B5EF4-FFF2-40B4-BE49-F238E27FC236}">
                <a16:creationId xmlns:a16="http://schemas.microsoft.com/office/drawing/2014/main" id="{880C6A16-CEEE-443B-9FF3-F33330B4491A}"/>
              </a:ext>
            </a:extLst>
          </p:cNvPr>
          <p:cNvSpPr/>
          <p:nvPr/>
        </p:nvSpPr>
        <p:spPr>
          <a:xfrm>
            <a:off x="10881360" y="584706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2" name="Rectangle 28">
            <a:extLst>
              <a:ext uri="{FF2B5EF4-FFF2-40B4-BE49-F238E27FC236}">
                <a16:creationId xmlns:a16="http://schemas.microsoft.com/office/drawing/2014/main" id="{0C2A03D0-A9A7-434A-81BB-7132B07B103F}"/>
              </a:ext>
            </a:extLst>
          </p:cNvPr>
          <p:cNvSpPr/>
          <p:nvPr/>
        </p:nvSpPr>
        <p:spPr>
          <a:xfrm>
            <a:off x="11265408" y="584706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3" name="Rectangle 29">
            <a:extLst>
              <a:ext uri="{FF2B5EF4-FFF2-40B4-BE49-F238E27FC236}">
                <a16:creationId xmlns:a16="http://schemas.microsoft.com/office/drawing/2014/main" id="{5CCA9587-8766-4A93-80CD-0422969DF61F}"/>
              </a:ext>
            </a:extLst>
          </p:cNvPr>
          <p:cNvSpPr/>
          <p:nvPr/>
        </p:nvSpPr>
        <p:spPr>
          <a:xfrm>
            <a:off x="10881360" y="968754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4" name="Rectangle 30">
            <a:extLst>
              <a:ext uri="{FF2B5EF4-FFF2-40B4-BE49-F238E27FC236}">
                <a16:creationId xmlns:a16="http://schemas.microsoft.com/office/drawing/2014/main" id="{459EB3A2-2D20-4C5E-823D-156994DDA062}"/>
              </a:ext>
            </a:extLst>
          </p:cNvPr>
          <p:cNvSpPr/>
          <p:nvPr/>
        </p:nvSpPr>
        <p:spPr>
          <a:xfrm>
            <a:off x="11265408" y="968754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5" name="Rectangle 31">
            <a:extLst>
              <a:ext uri="{FF2B5EF4-FFF2-40B4-BE49-F238E27FC236}">
                <a16:creationId xmlns:a16="http://schemas.microsoft.com/office/drawing/2014/main" id="{4F35E287-AA24-4B4F-93A6-4DEFFF51BC19}"/>
              </a:ext>
            </a:extLst>
          </p:cNvPr>
          <p:cNvSpPr/>
          <p:nvPr/>
        </p:nvSpPr>
        <p:spPr>
          <a:xfrm>
            <a:off x="11064240" y="401825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6" name="Rectangle 32">
            <a:extLst>
              <a:ext uri="{FF2B5EF4-FFF2-40B4-BE49-F238E27FC236}">
                <a16:creationId xmlns:a16="http://schemas.microsoft.com/office/drawing/2014/main" id="{46E91306-C1BA-45F6-8509-FB1A29566842}"/>
              </a:ext>
            </a:extLst>
          </p:cNvPr>
          <p:cNvSpPr/>
          <p:nvPr/>
        </p:nvSpPr>
        <p:spPr>
          <a:xfrm>
            <a:off x="11448288" y="401825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7" name="Rectangle 33">
            <a:extLst>
              <a:ext uri="{FF2B5EF4-FFF2-40B4-BE49-F238E27FC236}">
                <a16:creationId xmlns:a16="http://schemas.microsoft.com/office/drawing/2014/main" id="{56902B69-1A0D-450A-B0B0-6CBF95123F9B}"/>
              </a:ext>
            </a:extLst>
          </p:cNvPr>
          <p:cNvSpPr/>
          <p:nvPr/>
        </p:nvSpPr>
        <p:spPr>
          <a:xfrm>
            <a:off x="11064240" y="785874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8" name="Rectangle 34">
            <a:extLst>
              <a:ext uri="{FF2B5EF4-FFF2-40B4-BE49-F238E27FC236}">
                <a16:creationId xmlns:a16="http://schemas.microsoft.com/office/drawing/2014/main" id="{CF18B581-70ED-45FC-B49F-5B6A637F294A}"/>
              </a:ext>
            </a:extLst>
          </p:cNvPr>
          <p:cNvSpPr/>
          <p:nvPr/>
        </p:nvSpPr>
        <p:spPr>
          <a:xfrm>
            <a:off x="11448288" y="785874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9" name="Rectangle 35">
            <a:extLst>
              <a:ext uri="{FF2B5EF4-FFF2-40B4-BE49-F238E27FC236}">
                <a16:creationId xmlns:a16="http://schemas.microsoft.com/office/drawing/2014/main" id="{6D57F276-E151-4933-B76E-88BD9B5D68B4}"/>
              </a:ext>
            </a:extLst>
          </p:cNvPr>
          <p:cNvSpPr/>
          <p:nvPr/>
        </p:nvSpPr>
        <p:spPr>
          <a:xfrm>
            <a:off x="11247120" y="218946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10" name="Rectangle 36">
            <a:extLst>
              <a:ext uri="{FF2B5EF4-FFF2-40B4-BE49-F238E27FC236}">
                <a16:creationId xmlns:a16="http://schemas.microsoft.com/office/drawing/2014/main" id="{F7F815F7-27C2-4323-AE12-2B92211BF426}"/>
              </a:ext>
            </a:extLst>
          </p:cNvPr>
          <p:cNvSpPr/>
          <p:nvPr/>
        </p:nvSpPr>
        <p:spPr>
          <a:xfrm>
            <a:off x="11631168" y="218946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11" name="Rectangle 37">
            <a:extLst>
              <a:ext uri="{FF2B5EF4-FFF2-40B4-BE49-F238E27FC236}">
                <a16:creationId xmlns:a16="http://schemas.microsoft.com/office/drawing/2014/main" id="{B0D484C3-0A12-4F24-ABE4-7478E6776BC8}"/>
              </a:ext>
            </a:extLst>
          </p:cNvPr>
          <p:cNvSpPr/>
          <p:nvPr/>
        </p:nvSpPr>
        <p:spPr>
          <a:xfrm>
            <a:off x="11247120" y="602994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12" name="Rectangle 38">
            <a:extLst>
              <a:ext uri="{FF2B5EF4-FFF2-40B4-BE49-F238E27FC236}">
                <a16:creationId xmlns:a16="http://schemas.microsoft.com/office/drawing/2014/main" id="{412E96CA-04A2-41EF-87A6-0CBEEDDEBB7B}"/>
              </a:ext>
            </a:extLst>
          </p:cNvPr>
          <p:cNvSpPr/>
          <p:nvPr/>
        </p:nvSpPr>
        <p:spPr>
          <a:xfrm>
            <a:off x="11631168" y="602994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13" name="TextBox 26">
            <a:extLst>
              <a:ext uri="{FF2B5EF4-FFF2-40B4-BE49-F238E27FC236}">
                <a16:creationId xmlns:a16="http://schemas.microsoft.com/office/drawing/2014/main" id="{33FF06BA-DB8A-4621-9A05-1F19B743D720}"/>
              </a:ext>
            </a:extLst>
          </p:cNvPr>
          <p:cNvSpPr txBox="1"/>
          <p:nvPr/>
        </p:nvSpPr>
        <p:spPr>
          <a:xfrm>
            <a:off x="8385048" y="5449721"/>
            <a:ext cx="1463040" cy="2778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Microsoft JhengHei"/>
                <a:ea typeface="Microsoft JhengHei"/>
                <a:cs typeface="Microsoft JhengHei"/>
              </a:rPr>
              <a:t>5</a:t>
            </a:r>
            <a:r>
              <a:rPr sz="1600" b="1" dirty="0">
                <a:solidFill>
                  <a:schemeClr val="bg1">
                    <a:lumMod val="95000"/>
                  </a:schemeClr>
                </a:solidFill>
                <a:latin typeface="Microsoft JhengHei"/>
                <a:ea typeface="Microsoft JhengHei"/>
                <a:cs typeface="Microsoft JhengHei"/>
              </a:rPr>
              <a:t>D (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Microsoft JhengHei"/>
                <a:ea typeface="Microsoft JhengHei"/>
                <a:cs typeface="Microsoft JhengHei"/>
              </a:rPr>
              <a:t>2, 3,3,</a:t>
            </a:r>
            <a:r>
              <a:rPr sz="1600" b="1" dirty="0">
                <a:solidFill>
                  <a:schemeClr val="bg1">
                    <a:lumMod val="95000"/>
                  </a:schemeClr>
                </a:solidFill>
                <a:latin typeface="Microsoft JhengHei"/>
                <a:ea typeface="Microsoft JhengHei"/>
                <a:cs typeface="Microsoft JhengHei"/>
              </a:rPr>
              <a:t>2,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r>
              <a:rPr sz="1600" b="1" dirty="0">
                <a:solidFill>
                  <a:schemeClr val="bg1">
                    <a:lumMod val="95000"/>
                  </a:schemeClr>
                </a:solidFill>
                <a:latin typeface="Microsoft JhengHei"/>
                <a:ea typeface="Microsoft JhengHei"/>
                <a:cs typeface="Microsoft JhengHei"/>
              </a:rPr>
              <a:t>)</a:t>
            </a:r>
          </a:p>
        </p:txBody>
      </p: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CB2B76BB-940F-42E9-AE8E-AC3F79C2EE7E}"/>
              </a:ext>
            </a:extLst>
          </p:cNvPr>
          <p:cNvGrpSpPr/>
          <p:nvPr/>
        </p:nvGrpSpPr>
        <p:grpSpPr>
          <a:xfrm>
            <a:off x="7002127" y="3809795"/>
            <a:ext cx="3840537" cy="1203750"/>
            <a:chOff x="9296400" y="2255519"/>
            <a:chExt cx="1225296" cy="384048"/>
          </a:xfrm>
          <a:solidFill>
            <a:schemeClr val="bg1">
              <a:lumMod val="50000"/>
            </a:schemeClr>
          </a:solidFill>
        </p:grpSpPr>
        <p:sp>
          <p:nvSpPr>
            <p:cNvPr id="98" name="Rectangle 20">
              <a:extLst>
                <a:ext uri="{FF2B5EF4-FFF2-40B4-BE49-F238E27FC236}">
                  <a16:creationId xmlns:a16="http://schemas.microsoft.com/office/drawing/2014/main" id="{9F78A37E-B831-459F-9C97-754B097138DA}"/>
                </a:ext>
              </a:extLst>
            </p:cNvPr>
            <p:cNvSpPr/>
            <p:nvPr/>
          </p:nvSpPr>
          <p:spPr>
            <a:xfrm>
              <a:off x="9296400" y="2255519"/>
              <a:ext cx="384048" cy="384048"/>
            </a:xfrm>
            <a:prstGeom prst="rect">
              <a:avLst/>
            </a:prstGeom>
            <a:grpFill/>
            <a:ln w="15875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99" name="Rectangle 21">
              <a:extLst>
                <a:ext uri="{FF2B5EF4-FFF2-40B4-BE49-F238E27FC236}">
                  <a16:creationId xmlns:a16="http://schemas.microsoft.com/office/drawing/2014/main" id="{44C7FFA3-3D85-454F-AAF7-86DCF17EB3FF}"/>
                </a:ext>
              </a:extLst>
            </p:cNvPr>
            <p:cNvSpPr/>
            <p:nvPr/>
          </p:nvSpPr>
          <p:spPr>
            <a:xfrm>
              <a:off x="9717024" y="2255519"/>
              <a:ext cx="384048" cy="384048"/>
            </a:xfrm>
            <a:prstGeom prst="rect">
              <a:avLst/>
            </a:prstGeom>
            <a:grpFill/>
            <a:ln w="15875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00" name="Rectangle 22">
              <a:extLst>
                <a:ext uri="{FF2B5EF4-FFF2-40B4-BE49-F238E27FC236}">
                  <a16:creationId xmlns:a16="http://schemas.microsoft.com/office/drawing/2014/main" id="{C4F618A4-9568-4C06-94CC-5DC4FB28D4EC}"/>
                </a:ext>
              </a:extLst>
            </p:cNvPr>
            <p:cNvSpPr/>
            <p:nvPr/>
          </p:nvSpPr>
          <p:spPr>
            <a:xfrm>
              <a:off x="10137648" y="2255519"/>
              <a:ext cx="384048" cy="384048"/>
            </a:xfrm>
            <a:prstGeom prst="rect">
              <a:avLst/>
            </a:prstGeom>
            <a:grpFill/>
            <a:ln w="15875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4" name="群組 113">
            <a:extLst>
              <a:ext uri="{FF2B5EF4-FFF2-40B4-BE49-F238E27FC236}">
                <a16:creationId xmlns:a16="http://schemas.microsoft.com/office/drawing/2014/main" id="{87E378EF-2CE5-47A0-BB69-C21C0DAD6A4B}"/>
              </a:ext>
            </a:extLst>
          </p:cNvPr>
          <p:cNvGrpSpPr/>
          <p:nvPr/>
        </p:nvGrpSpPr>
        <p:grpSpPr>
          <a:xfrm>
            <a:off x="7138033" y="3866373"/>
            <a:ext cx="859535" cy="859535"/>
            <a:chOff x="10881360" y="602484"/>
            <a:chExt cx="1115568" cy="1115568"/>
          </a:xfrm>
        </p:grpSpPr>
        <p:sp>
          <p:nvSpPr>
            <p:cNvPr id="115" name="Rectangle 27">
              <a:extLst>
                <a:ext uri="{FF2B5EF4-FFF2-40B4-BE49-F238E27FC236}">
                  <a16:creationId xmlns:a16="http://schemas.microsoft.com/office/drawing/2014/main" id="{1E16C18F-AAD1-4A77-B2B1-56A5ED48AB9B}"/>
                </a:ext>
              </a:extLst>
            </p:cNvPr>
            <p:cNvSpPr/>
            <p:nvPr/>
          </p:nvSpPr>
          <p:spPr>
            <a:xfrm>
              <a:off x="10881360" y="96824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16" name="Rectangle 28">
              <a:extLst>
                <a:ext uri="{FF2B5EF4-FFF2-40B4-BE49-F238E27FC236}">
                  <a16:creationId xmlns:a16="http://schemas.microsoft.com/office/drawing/2014/main" id="{A124C306-EE19-4803-9DF8-5221DF0F6DBC}"/>
                </a:ext>
              </a:extLst>
            </p:cNvPr>
            <p:cNvSpPr/>
            <p:nvPr/>
          </p:nvSpPr>
          <p:spPr>
            <a:xfrm>
              <a:off x="11265408" y="96824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17" name="Rectangle 29">
              <a:extLst>
                <a:ext uri="{FF2B5EF4-FFF2-40B4-BE49-F238E27FC236}">
                  <a16:creationId xmlns:a16="http://schemas.microsoft.com/office/drawing/2014/main" id="{AB3C62E5-1F01-4007-94DE-6A7DA78A3B4D}"/>
                </a:ext>
              </a:extLst>
            </p:cNvPr>
            <p:cNvSpPr/>
            <p:nvPr/>
          </p:nvSpPr>
          <p:spPr>
            <a:xfrm>
              <a:off x="10881360" y="135229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18" name="Rectangle 30">
              <a:extLst>
                <a:ext uri="{FF2B5EF4-FFF2-40B4-BE49-F238E27FC236}">
                  <a16:creationId xmlns:a16="http://schemas.microsoft.com/office/drawing/2014/main" id="{8A913CE7-3272-4573-B894-C6653D235C5F}"/>
                </a:ext>
              </a:extLst>
            </p:cNvPr>
            <p:cNvSpPr/>
            <p:nvPr/>
          </p:nvSpPr>
          <p:spPr>
            <a:xfrm>
              <a:off x="11265408" y="135229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19" name="Rectangle 31">
              <a:extLst>
                <a:ext uri="{FF2B5EF4-FFF2-40B4-BE49-F238E27FC236}">
                  <a16:creationId xmlns:a16="http://schemas.microsoft.com/office/drawing/2014/main" id="{E5AE26A3-D4BD-49F8-AA72-3FBE465D1F83}"/>
                </a:ext>
              </a:extLst>
            </p:cNvPr>
            <p:cNvSpPr/>
            <p:nvPr/>
          </p:nvSpPr>
          <p:spPr>
            <a:xfrm>
              <a:off x="11064240" y="785363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20" name="Rectangle 32">
              <a:extLst>
                <a:ext uri="{FF2B5EF4-FFF2-40B4-BE49-F238E27FC236}">
                  <a16:creationId xmlns:a16="http://schemas.microsoft.com/office/drawing/2014/main" id="{5CB003F2-B934-4338-B2E3-4871DCBF9892}"/>
                </a:ext>
              </a:extLst>
            </p:cNvPr>
            <p:cNvSpPr/>
            <p:nvPr/>
          </p:nvSpPr>
          <p:spPr>
            <a:xfrm>
              <a:off x="11448288" y="785363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21" name="Rectangle 33">
              <a:extLst>
                <a:ext uri="{FF2B5EF4-FFF2-40B4-BE49-F238E27FC236}">
                  <a16:creationId xmlns:a16="http://schemas.microsoft.com/office/drawing/2014/main" id="{8D706ADF-6903-437D-883A-38A32578CD5F}"/>
                </a:ext>
              </a:extLst>
            </p:cNvPr>
            <p:cNvSpPr/>
            <p:nvPr/>
          </p:nvSpPr>
          <p:spPr>
            <a:xfrm>
              <a:off x="11064240" y="116941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22" name="Rectangle 34">
              <a:extLst>
                <a:ext uri="{FF2B5EF4-FFF2-40B4-BE49-F238E27FC236}">
                  <a16:creationId xmlns:a16="http://schemas.microsoft.com/office/drawing/2014/main" id="{60F93254-CAB3-4E89-BFF3-39CE680ADA61}"/>
                </a:ext>
              </a:extLst>
            </p:cNvPr>
            <p:cNvSpPr/>
            <p:nvPr/>
          </p:nvSpPr>
          <p:spPr>
            <a:xfrm>
              <a:off x="11448288" y="116941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23" name="Rectangle 35">
              <a:extLst>
                <a:ext uri="{FF2B5EF4-FFF2-40B4-BE49-F238E27FC236}">
                  <a16:creationId xmlns:a16="http://schemas.microsoft.com/office/drawing/2014/main" id="{0C092630-1821-4131-BF47-FC9889A12BE7}"/>
                </a:ext>
              </a:extLst>
            </p:cNvPr>
            <p:cNvSpPr/>
            <p:nvPr/>
          </p:nvSpPr>
          <p:spPr>
            <a:xfrm>
              <a:off x="11247120" y="60248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24" name="Rectangle 36">
              <a:extLst>
                <a:ext uri="{FF2B5EF4-FFF2-40B4-BE49-F238E27FC236}">
                  <a16:creationId xmlns:a16="http://schemas.microsoft.com/office/drawing/2014/main" id="{96B1EAE5-81DD-449C-BBAB-DD1E7A1F1F8E}"/>
                </a:ext>
              </a:extLst>
            </p:cNvPr>
            <p:cNvSpPr/>
            <p:nvPr/>
          </p:nvSpPr>
          <p:spPr>
            <a:xfrm>
              <a:off x="11631168" y="60248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25" name="Rectangle 37">
              <a:extLst>
                <a:ext uri="{FF2B5EF4-FFF2-40B4-BE49-F238E27FC236}">
                  <a16:creationId xmlns:a16="http://schemas.microsoft.com/office/drawing/2014/main" id="{C44850DD-03A0-478B-A7DF-F941959072E0}"/>
                </a:ext>
              </a:extLst>
            </p:cNvPr>
            <p:cNvSpPr/>
            <p:nvPr/>
          </p:nvSpPr>
          <p:spPr>
            <a:xfrm>
              <a:off x="11247120" y="98653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26" name="Rectangle 38">
              <a:extLst>
                <a:ext uri="{FF2B5EF4-FFF2-40B4-BE49-F238E27FC236}">
                  <a16:creationId xmlns:a16="http://schemas.microsoft.com/office/drawing/2014/main" id="{91194052-5568-424E-BDF3-A2E2015C8725}"/>
                </a:ext>
              </a:extLst>
            </p:cNvPr>
            <p:cNvSpPr/>
            <p:nvPr/>
          </p:nvSpPr>
          <p:spPr>
            <a:xfrm>
              <a:off x="11631168" y="98653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</p:grpSp>
      <p:grpSp>
        <p:nvGrpSpPr>
          <p:cNvPr id="127" name="群組 126">
            <a:extLst>
              <a:ext uri="{FF2B5EF4-FFF2-40B4-BE49-F238E27FC236}">
                <a16:creationId xmlns:a16="http://schemas.microsoft.com/office/drawing/2014/main" id="{1B4063B7-F536-4E30-917C-E35D7B3C90E9}"/>
              </a:ext>
            </a:extLst>
          </p:cNvPr>
          <p:cNvGrpSpPr/>
          <p:nvPr/>
        </p:nvGrpSpPr>
        <p:grpSpPr>
          <a:xfrm>
            <a:off x="8492629" y="3858348"/>
            <a:ext cx="859535" cy="859535"/>
            <a:chOff x="10881360" y="602484"/>
            <a:chExt cx="1115568" cy="1115568"/>
          </a:xfrm>
        </p:grpSpPr>
        <p:sp>
          <p:nvSpPr>
            <p:cNvPr id="128" name="Rectangle 27">
              <a:extLst>
                <a:ext uri="{FF2B5EF4-FFF2-40B4-BE49-F238E27FC236}">
                  <a16:creationId xmlns:a16="http://schemas.microsoft.com/office/drawing/2014/main" id="{1756F5AC-6CB4-44D8-BFAF-4C5BC6A26041}"/>
                </a:ext>
              </a:extLst>
            </p:cNvPr>
            <p:cNvSpPr/>
            <p:nvPr/>
          </p:nvSpPr>
          <p:spPr>
            <a:xfrm>
              <a:off x="10881360" y="96824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29" name="Rectangle 28">
              <a:extLst>
                <a:ext uri="{FF2B5EF4-FFF2-40B4-BE49-F238E27FC236}">
                  <a16:creationId xmlns:a16="http://schemas.microsoft.com/office/drawing/2014/main" id="{F5E4D6A0-2DD9-49C2-8507-5D412C949935}"/>
                </a:ext>
              </a:extLst>
            </p:cNvPr>
            <p:cNvSpPr/>
            <p:nvPr/>
          </p:nvSpPr>
          <p:spPr>
            <a:xfrm>
              <a:off x="11265408" y="96824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30" name="Rectangle 29">
              <a:extLst>
                <a:ext uri="{FF2B5EF4-FFF2-40B4-BE49-F238E27FC236}">
                  <a16:creationId xmlns:a16="http://schemas.microsoft.com/office/drawing/2014/main" id="{88FE0112-428E-4A8F-8122-86A745457E8E}"/>
                </a:ext>
              </a:extLst>
            </p:cNvPr>
            <p:cNvSpPr/>
            <p:nvPr/>
          </p:nvSpPr>
          <p:spPr>
            <a:xfrm>
              <a:off x="10881360" y="135229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31" name="Rectangle 30">
              <a:extLst>
                <a:ext uri="{FF2B5EF4-FFF2-40B4-BE49-F238E27FC236}">
                  <a16:creationId xmlns:a16="http://schemas.microsoft.com/office/drawing/2014/main" id="{3DA83159-4F9B-492D-871F-BD23756F8CB5}"/>
                </a:ext>
              </a:extLst>
            </p:cNvPr>
            <p:cNvSpPr/>
            <p:nvPr/>
          </p:nvSpPr>
          <p:spPr>
            <a:xfrm>
              <a:off x="11265408" y="135229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32" name="Rectangle 31">
              <a:extLst>
                <a:ext uri="{FF2B5EF4-FFF2-40B4-BE49-F238E27FC236}">
                  <a16:creationId xmlns:a16="http://schemas.microsoft.com/office/drawing/2014/main" id="{10DAFEDE-034E-4FF6-AA24-CD4C90929E31}"/>
                </a:ext>
              </a:extLst>
            </p:cNvPr>
            <p:cNvSpPr/>
            <p:nvPr/>
          </p:nvSpPr>
          <p:spPr>
            <a:xfrm>
              <a:off x="11064240" y="785363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33" name="Rectangle 32">
              <a:extLst>
                <a:ext uri="{FF2B5EF4-FFF2-40B4-BE49-F238E27FC236}">
                  <a16:creationId xmlns:a16="http://schemas.microsoft.com/office/drawing/2014/main" id="{C3C09FE3-7171-4E91-B8BE-A82036697159}"/>
                </a:ext>
              </a:extLst>
            </p:cNvPr>
            <p:cNvSpPr/>
            <p:nvPr/>
          </p:nvSpPr>
          <p:spPr>
            <a:xfrm>
              <a:off x="11448288" y="785363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34" name="Rectangle 33">
              <a:extLst>
                <a:ext uri="{FF2B5EF4-FFF2-40B4-BE49-F238E27FC236}">
                  <a16:creationId xmlns:a16="http://schemas.microsoft.com/office/drawing/2014/main" id="{71A79D83-BF4B-42F5-8CFE-CAE8B258B331}"/>
                </a:ext>
              </a:extLst>
            </p:cNvPr>
            <p:cNvSpPr/>
            <p:nvPr/>
          </p:nvSpPr>
          <p:spPr>
            <a:xfrm>
              <a:off x="11064240" y="116941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35" name="Rectangle 34">
              <a:extLst>
                <a:ext uri="{FF2B5EF4-FFF2-40B4-BE49-F238E27FC236}">
                  <a16:creationId xmlns:a16="http://schemas.microsoft.com/office/drawing/2014/main" id="{731BE641-8E1E-4350-A5CA-143E41911C30}"/>
                </a:ext>
              </a:extLst>
            </p:cNvPr>
            <p:cNvSpPr/>
            <p:nvPr/>
          </p:nvSpPr>
          <p:spPr>
            <a:xfrm>
              <a:off x="11448288" y="116941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36" name="Rectangle 35">
              <a:extLst>
                <a:ext uri="{FF2B5EF4-FFF2-40B4-BE49-F238E27FC236}">
                  <a16:creationId xmlns:a16="http://schemas.microsoft.com/office/drawing/2014/main" id="{F85393E8-FB03-4AC5-B03D-6736349F2B23}"/>
                </a:ext>
              </a:extLst>
            </p:cNvPr>
            <p:cNvSpPr/>
            <p:nvPr/>
          </p:nvSpPr>
          <p:spPr>
            <a:xfrm>
              <a:off x="11247120" y="60248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37" name="Rectangle 36">
              <a:extLst>
                <a:ext uri="{FF2B5EF4-FFF2-40B4-BE49-F238E27FC236}">
                  <a16:creationId xmlns:a16="http://schemas.microsoft.com/office/drawing/2014/main" id="{42D31293-07F8-4FAC-B366-40833942DC48}"/>
                </a:ext>
              </a:extLst>
            </p:cNvPr>
            <p:cNvSpPr/>
            <p:nvPr/>
          </p:nvSpPr>
          <p:spPr>
            <a:xfrm>
              <a:off x="11631168" y="60248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38" name="Rectangle 37">
              <a:extLst>
                <a:ext uri="{FF2B5EF4-FFF2-40B4-BE49-F238E27FC236}">
                  <a16:creationId xmlns:a16="http://schemas.microsoft.com/office/drawing/2014/main" id="{FB4A2612-235A-4385-9DF4-E5F41E8B58C4}"/>
                </a:ext>
              </a:extLst>
            </p:cNvPr>
            <p:cNvSpPr/>
            <p:nvPr/>
          </p:nvSpPr>
          <p:spPr>
            <a:xfrm>
              <a:off x="11247120" y="98653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39" name="Rectangle 38">
              <a:extLst>
                <a:ext uri="{FF2B5EF4-FFF2-40B4-BE49-F238E27FC236}">
                  <a16:creationId xmlns:a16="http://schemas.microsoft.com/office/drawing/2014/main" id="{DF8D307D-2DCD-4CFD-A71E-00AE1C31DD22}"/>
                </a:ext>
              </a:extLst>
            </p:cNvPr>
            <p:cNvSpPr/>
            <p:nvPr/>
          </p:nvSpPr>
          <p:spPr>
            <a:xfrm>
              <a:off x="11631168" y="98653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</p:grpSp>
      <p:grpSp>
        <p:nvGrpSpPr>
          <p:cNvPr id="140" name="群組 139">
            <a:extLst>
              <a:ext uri="{FF2B5EF4-FFF2-40B4-BE49-F238E27FC236}">
                <a16:creationId xmlns:a16="http://schemas.microsoft.com/office/drawing/2014/main" id="{6D6F6294-16DA-4E23-AA10-96CB2360AE3D}"/>
              </a:ext>
            </a:extLst>
          </p:cNvPr>
          <p:cNvGrpSpPr/>
          <p:nvPr/>
        </p:nvGrpSpPr>
        <p:grpSpPr>
          <a:xfrm>
            <a:off x="9798622" y="3848040"/>
            <a:ext cx="859535" cy="859535"/>
            <a:chOff x="10881360" y="602484"/>
            <a:chExt cx="1115568" cy="1115568"/>
          </a:xfrm>
        </p:grpSpPr>
        <p:sp>
          <p:nvSpPr>
            <p:cNvPr id="141" name="Rectangle 27">
              <a:extLst>
                <a:ext uri="{FF2B5EF4-FFF2-40B4-BE49-F238E27FC236}">
                  <a16:creationId xmlns:a16="http://schemas.microsoft.com/office/drawing/2014/main" id="{93672D1B-3A8D-40E5-AFB5-262A3003A3A6}"/>
                </a:ext>
              </a:extLst>
            </p:cNvPr>
            <p:cNvSpPr/>
            <p:nvPr/>
          </p:nvSpPr>
          <p:spPr>
            <a:xfrm>
              <a:off x="10881360" y="96824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42" name="Rectangle 28">
              <a:extLst>
                <a:ext uri="{FF2B5EF4-FFF2-40B4-BE49-F238E27FC236}">
                  <a16:creationId xmlns:a16="http://schemas.microsoft.com/office/drawing/2014/main" id="{CDA575C5-DFD2-4AC8-9A49-35D5B114E950}"/>
                </a:ext>
              </a:extLst>
            </p:cNvPr>
            <p:cNvSpPr/>
            <p:nvPr/>
          </p:nvSpPr>
          <p:spPr>
            <a:xfrm>
              <a:off x="11265408" y="96824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43" name="Rectangle 29">
              <a:extLst>
                <a:ext uri="{FF2B5EF4-FFF2-40B4-BE49-F238E27FC236}">
                  <a16:creationId xmlns:a16="http://schemas.microsoft.com/office/drawing/2014/main" id="{A1D37A86-19BA-4D42-BBD1-9B26BAD88680}"/>
                </a:ext>
              </a:extLst>
            </p:cNvPr>
            <p:cNvSpPr/>
            <p:nvPr/>
          </p:nvSpPr>
          <p:spPr>
            <a:xfrm>
              <a:off x="10881360" y="135229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44" name="Rectangle 30">
              <a:extLst>
                <a:ext uri="{FF2B5EF4-FFF2-40B4-BE49-F238E27FC236}">
                  <a16:creationId xmlns:a16="http://schemas.microsoft.com/office/drawing/2014/main" id="{7D81F1AF-6E6B-44FD-8F38-20D19A82CDF5}"/>
                </a:ext>
              </a:extLst>
            </p:cNvPr>
            <p:cNvSpPr/>
            <p:nvPr/>
          </p:nvSpPr>
          <p:spPr>
            <a:xfrm>
              <a:off x="11265408" y="135229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45" name="Rectangle 31">
              <a:extLst>
                <a:ext uri="{FF2B5EF4-FFF2-40B4-BE49-F238E27FC236}">
                  <a16:creationId xmlns:a16="http://schemas.microsoft.com/office/drawing/2014/main" id="{FF558FF0-1741-4F2D-993C-91952040FA61}"/>
                </a:ext>
              </a:extLst>
            </p:cNvPr>
            <p:cNvSpPr/>
            <p:nvPr/>
          </p:nvSpPr>
          <p:spPr>
            <a:xfrm>
              <a:off x="11064240" y="785363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46" name="Rectangle 32">
              <a:extLst>
                <a:ext uri="{FF2B5EF4-FFF2-40B4-BE49-F238E27FC236}">
                  <a16:creationId xmlns:a16="http://schemas.microsoft.com/office/drawing/2014/main" id="{0AA827CB-7D26-443E-BD93-1164E3E9A227}"/>
                </a:ext>
              </a:extLst>
            </p:cNvPr>
            <p:cNvSpPr/>
            <p:nvPr/>
          </p:nvSpPr>
          <p:spPr>
            <a:xfrm>
              <a:off x="11448288" y="785363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47" name="Rectangle 33">
              <a:extLst>
                <a:ext uri="{FF2B5EF4-FFF2-40B4-BE49-F238E27FC236}">
                  <a16:creationId xmlns:a16="http://schemas.microsoft.com/office/drawing/2014/main" id="{F2581113-06D4-44C9-9E3C-5B8F93690DF3}"/>
                </a:ext>
              </a:extLst>
            </p:cNvPr>
            <p:cNvSpPr/>
            <p:nvPr/>
          </p:nvSpPr>
          <p:spPr>
            <a:xfrm>
              <a:off x="11064240" y="116941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48" name="Rectangle 34">
              <a:extLst>
                <a:ext uri="{FF2B5EF4-FFF2-40B4-BE49-F238E27FC236}">
                  <a16:creationId xmlns:a16="http://schemas.microsoft.com/office/drawing/2014/main" id="{7E5F15D5-1E22-462E-B45C-C14716DC3613}"/>
                </a:ext>
              </a:extLst>
            </p:cNvPr>
            <p:cNvSpPr/>
            <p:nvPr/>
          </p:nvSpPr>
          <p:spPr>
            <a:xfrm>
              <a:off x="11448288" y="116941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49" name="Rectangle 35">
              <a:extLst>
                <a:ext uri="{FF2B5EF4-FFF2-40B4-BE49-F238E27FC236}">
                  <a16:creationId xmlns:a16="http://schemas.microsoft.com/office/drawing/2014/main" id="{1DF913C9-E29A-4D24-82DE-0273D1E7D5D3}"/>
                </a:ext>
              </a:extLst>
            </p:cNvPr>
            <p:cNvSpPr/>
            <p:nvPr/>
          </p:nvSpPr>
          <p:spPr>
            <a:xfrm>
              <a:off x="11247120" y="60248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50" name="Rectangle 36">
              <a:extLst>
                <a:ext uri="{FF2B5EF4-FFF2-40B4-BE49-F238E27FC236}">
                  <a16:creationId xmlns:a16="http://schemas.microsoft.com/office/drawing/2014/main" id="{3718621A-6B9F-4B29-BFD5-E9A487573E3E}"/>
                </a:ext>
              </a:extLst>
            </p:cNvPr>
            <p:cNvSpPr/>
            <p:nvPr/>
          </p:nvSpPr>
          <p:spPr>
            <a:xfrm>
              <a:off x="11631168" y="602484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51" name="Rectangle 37">
              <a:extLst>
                <a:ext uri="{FF2B5EF4-FFF2-40B4-BE49-F238E27FC236}">
                  <a16:creationId xmlns:a16="http://schemas.microsoft.com/office/drawing/2014/main" id="{7F6563D3-DB26-428C-B31C-C81EC0465C47}"/>
                </a:ext>
              </a:extLst>
            </p:cNvPr>
            <p:cNvSpPr/>
            <p:nvPr/>
          </p:nvSpPr>
          <p:spPr>
            <a:xfrm>
              <a:off x="11247120" y="98653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  <p:sp>
          <p:nvSpPr>
            <p:cNvPr id="152" name="Rectangle 38">
              <a:extLst>
                <a:ext uri="{FF2B5EF4-FFF2-40B4-BE49-F238E27FC236}">
                  <a16:creationId xmlns:a16="http://schemas.microsoft.com/office/drawing/2014/main" id="{ABF7879B-0CB9-4E62-AEF8-D76B07BD6813}"/>
                </a:ext>
              </a:extLst>
            </p:cNvPr>
            <p:cNvSpPr/>
            <p:nvPr/>
          </p:nvSpPr>
          <p:spPr>
            <a:xfrm>
              <a:off x="11631168" y="986532"/>
              <a:ext cx="365760" cy="365760"/>
            </a:xfrm>
            <a:prstGeom prst="rect">
              <a:avLst/>
            </a:prstGeom>
            <a:solidFill>
              <a:srgbClr val="241634"/>
            </a:solidFill>
            <a:ln w="15875">
              <a:solidFill>
                <a:srgbClr val="C79B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6754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PY04_NumPy 數值運算.ipynb · 形狀 shape 與維度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pic>
        <p:nvPicPr>
          <p:cNvPr id="1026" name="Picture 2" descr="Convolution Neural Network for image classification — Research Computing and Data Workshop">
            <a:extLst>
              <a:ext uri="{FF2B5EF4-FFF2-40B4-BE49-F238E27FC236}">
                <a16:creationId xmlns:a16="http://schemas.microsoft.com/office/drawing/2014/main" id="{23A9710F-3CA9-4E11-B2FF-E22E3C43F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7434" y="278460"/>
            <a:ext cx="8000492" cy="581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" name="TextBox 39">
            <a:extLst>
              <a:ext uri="{FF2B5EF4-FFF2-40B4-BE49-F238E27FC236}">
                <a16:creationId xmlns:a16="http://schemas.microsoft.com/office/drawing/2014/main" id="{C876545F-F7A7-4071-8DA1-F534A69E3DB8}"/>
              </a:ext>
            </a:extLst>
          </p:cNvPr>
          <p:cNvSpPr txBox="1"/>
          <p:nvPr/>
        </p:nvSpPr>
        <p:spPr>
          <a:xfrm>
            <a:off x="822655" y="2319341"/>
            <a:ext cx="1737360" cy="39844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2400" b="1" dirty="0">
                <a:solidFill>
                  <a:srgbClr val="C79BFF"/>
                </a:solidFill>
                <a:latin typeface="Microsoft JhengHei"/>
                <a:ea typeface="Microsoft JhengHei"/>
                <a:cs typeface="Microsoft JhengHei"/>
              </a:rPr>
              <a:t>3D (3,4,4)</a:t>
            </a:r>
            <a:endParaRPr sz="2400" b="1" dirty="0">
              <a:solidFill>
                <a:srgbClr val="C79B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54" name="TextBox 39">
            <a:extLst>
              <a:ext uri="{FF2B5EF4-FFF2-40B4-BE49-F238E27FC236}">
                <a16:creationId xmlns:a16="http://schemas.microsoft.com/office/drawing/2014/main" id="{6ACE654B-BCE0-4319-9414-B2E6497E1AD6}"/>
              </a:ext>
            </a:extLst>
          </p:cNvPr>
          <p:cNvSpPr txBox="1"/>
          <p:nvPr/>
        </p:nvSpPr>
        <p:spPr>
          <a:xfrm>
            <a:off x="822655" y="1550796"/>
            <a:ext cx="1737360" cy="39844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2400" b="1" dirty="0">
                <a:solidFill>
                  <a:srgbClr val="C79BFF"/>
                </a:solidFill>
                <a:latin typeface="Microsoft JhengHei"/>
                <a:ea typeface="Microsoft JhengHei"/>
                <a:cs typeface="Microsoft JhengHei"/>
              </a:rPr>
              <a:t>?D (?)</a:t>
            </a:r>
            <a:endParaRPr sz="2400" b="1" dirty="0">
              <a:solidFill>
                <a:srgbClr val="C79BFF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51583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matplotlib 的層次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C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FIGURE / AXES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PY06_matplotlib 製圖（基礎）.ipynb · 兩種繪圖介面與圖物件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狀態式：對「目前的圖」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plt.plot(x, 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plt.title('狀態式')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物件式：先拿 fig 與 ax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fig, ax = plt.subplots()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ax.plot(x, 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ax.set_title('物件式')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2880360"/>
            <a:ext cx="4206240" cy="1417320"/>
          </a:xfrm>
          <a:prstGeom prst="rect">
            <a:avLst/>
          </a:prstGeom>
          <a:solidFill>
            <a:srgbClr val="222936"/>
          </a:solidFill>
          <a:ln w="1587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2971800"/>
            <a:ext cx="4023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dirty="0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Figure </a:t>
            </a:r>
            <a:r>
              <a:rPr sz="1600" b="1" dirty="0" err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整塊畫布</a:t>
            </a:r>
            <a:endParaRPr sz="1600" b="1" dirty="0">
              <a:solidFill>
                <a:srgbClr val="F2F5F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178040" y="3429000"/>
            <a:ext cx="4206240" cy="1417320"/>
          </a:xfrm>
          <a:prstGeom prst="rect">
            <a:avLst/>
          </a:prstGeom>
          <a:solidFill>
            <a:srgbClr val="12253C"/>
          </a:solidFill>
          <a:ln w="1587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3520440"/>
            <a:ext cx="4023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Axes 座標系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3977639"/>
            <a:ext cx="4206240" cy="1417320"/>
          </a:xfrm>
          <a:prstGeom prst="rect">
            <a:avLst/>
          </a:prstGeom>
          <a:solidFill>
            <a:srgbClr val="10301A"/>
          </a:solidFill>
          <a:ln w="1587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0" y="4069080"/>
            <a:ext cx="4023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元素：折線/標題/軸/圖例/格線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57800"/>
            <a:ext cx="521208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fig, ax = plt.subplots() 一次拿到兩者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物件式可控、可重用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一張圖的元素組成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C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TITLE · AXIS · LEGEND · GRID ·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PY06_matplotlib 製圖（基礎）.ipynb · 圖面標註與元素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fig, ax = plt.subplots()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ax.plot(x, y, label="sin")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折線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ax.set_title("標題")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ax.set_xlabel("x 軸")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ax.set_ylabel("y 軸")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ax.legend()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圖例（靠 label）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ax.grid(True)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格線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926080"/>
            <a:ext cx="40233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標題 title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3291840"/>
            <a:ext cx="3931920" cy="2286000"/>
          </a:xfrm>
          <a:prstGeom prst="rect">
            <a:avLst/>
          </a:prstGeom>
          <a:solidFill>
            <a:srgbClr val="12161D"/>
          </a:solidFill>
          <a:ln w="19050">
            <a:solidFill>
              <a:srgbClr val="F2F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8156448" y="3337560"/>
            <a:ext cx="0" cy="2194560"/>
          </a:xfrm>
          <a:prstGeom prst="line">
            <a:avLst/>
          </a:prstGeom>
          <a:ln w="12700">
            <a:solidFill>
              <a:srgbClr val="3A41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34856" y="3337560"/>
            <a:ext cx="0" cy="2194560"/>
          </a:xfrm>
          <a:prstGeom prst="line">
            <a:avLst/>
          </a:prstGeom>
          <a:ln w="12700">
            <a:solidFill>
              <a:srgbClr val="3A41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13264" y="3337560"/>
            <a:ext cx="0" cy="2194560"/>
          </a:xfrm>
          <a:prstGeom prst="line">
            <a:avLst/>
          </a:prstGeom>
          <a:ln w="12700">
            <a:solidFill>
              <a:srgbClr val="3A41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cxnSpLocks/>
          </p:cNvCxnSpPr>
          <p:nvPr/>
        </p:nvCxnSpPr>
        <p:spPr>
          <a:xfrm flipV="1">
            <a:off x="7589520" y="4165600"/>
            <a:ext cx="1051560" cy="985520"/>
          </a:xfrm>
          <a:prstGeom prst="line">
            <a:avLst/>
          </a:prstGeom>
          <a:ln w="31750">
            <a:solidFill>
              <a:srgbClr val="5AB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0" y="4251960"/>
            <a:ext cx="7315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y 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5669280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x 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29800" y="3429000"/>
            <a:ext cx="1234440" cy="457200"/>
          </a:xfrm>
          <a:prstGeom prst="rect">
            <a:avLst/>
          </a:prstGeom>
          <a:solidFill>
            <a:srgbClr val="322910"/>
          </a:solidFill>
          <a:ln w="15875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圖例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5669280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折線</a:t>
            </a:r>
          </a:p>
        </p:txBody>
      </p:sp>
      <p:cxnSp>
        <p:nvCxnSpPr>
          <p:cNvPr id="29" name="Connector 19">
            <a:extLst>
              <a:ext uri="{FF2B5EF4-FFF2-40B4-BE49-F238E27FC236}">
                <a16:creationId xmlns:a16="http://schemas.microsoft.com/office/drawing/2014/main" id="{0C6DCB53-AC27-4077-9FA4-5D622FF8789D}"/>
              </a:ext>
            </a:extLst>
          </p:cNvPr>
          <p:cNvCxnSpPr>
            <a:cxnSpLocks/>
          </p:cNvCxnSpPr>
          <p:nvPr/>
        </p:nvCxnSpPr>
        <p:spPr>
          <a:xfrm>
            <a:off x="8641080" y="4165600"/>
            <a:ext cx="493776" cy="579120"/>
          </a:xfrm>
          <a:prstGeom prst="line">
            <a:avLst/>
          </a:prstGeom>
          <a:ln w="31750">
            <a:solidFill>
              <a:srgbClr val="5AB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19">
            <a:extLst>
              <a:ext uri="{FF2B5EF4-FFF2-40B4-BE49-F238E27FC236}">
                <a16:creationId xmlns:a16="http://schemas.microsoft.com/office/drawing/2014/main" id="{D7DAEA0A-6325-49C6-8BB4-BC2B903E4919}"/>
              </a:ext>
            </a:extLst>
          </p:cNvPr>
          <p:cNvCxnSpPr>
            <a:cxnSpLocks/>
          </p:cNvCxnSpPr>
          <p:nvPr/>
        </p:nvCxnSpPr>
        <p:spPr>
          <a:xfrm flipV="1">
            <a:off x="9116567" y="4434840"/>
            <a:ext cx="1472185" cy="286106"/>
          </a:xfrm>
          <a:prstGeom prst="line">
            <a:avLst/>
          </a:prstGeom>
          <a:ln w="31750">
            <a:solidFill>
              <a:srgbClr val="5AB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向量幾何 shapely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POINT / POLYGON /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PY11_地理空間與圖論.ipynb · 向量幾何基礎 shapely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from shapely.geometry import Point, Polygon, box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p1 = Point(0, 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p2 = Point(3, 4)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p1.distance(p2)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5.0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sq = Polygon([(0,0),(4,0),(4,4),(0,4)])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sq.area      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16.0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box(1,1,3,2) 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矩形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95160" y="5715000"/>
            <a:ext cx="4206240" cy="0"/>
          </a:xfrm>
          <a:prstGeom prst="line">
            <a:avLst/>
          </a:prstGeom>
          <a:ln w="19050">
            <a:solidFill>
              <a:srgbClr val="F2F5F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995160" y="3063240"/>
            <a:ext cx="0" cy="2651760"/>
          </a:xfrm>
          <a:prstGeom prst="line">
            <a:avLst/>
          </a:prstGeom>
          <a:ln w="19050">
            <a:solidFill>
              <a:srgbClr val="F2F5F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927080" y="5733288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063240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60" y="3447288"/>
            <a:ext cx="2267712" cy="2267712"/>
          </a:xfrm>
          <a:prstGeom prst="rect">
            <a:avLst/>
          </a:prstGeom>
          <a:noFill/>
          <a:ln w="31750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0" y="388620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Polygon 16</a:t>
            </a:r>
          </a:p>
        </p:txBody>
      </p:sp>
      <p:sp>
        <p:nvSpPr>
          <p:cNvPr id="21" name="Oval 20"/>
          <p:cNvSpPr/>
          <p:nvPr/>
        </p:nvSpPr>
        <p:spPr>
          <a:xfrm>
            <a:off x="8604504" y="3355848"/>
            <a:ext cx="201168" cy="201168"/>
          </a:xfrm>
          <a:prstGeom prst="ellipse">
            <a:avLst/>
          </a:prstGeom>
          <a:solidFill>
            <a:srgbClr val="FF6B6B"/>
          </a:solidFill>
          <a:ln w="15875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V="1">
            <a:off x="6995160" y="3447288"/>
            <a:ext cx="1700784" cy="2267712"/>
          </a:xfrm>
          <a:prstGeom prst="line">
            <a:avLst/>
          </a:prstGeom>
          <a:ln w="25400">
            <a:solidFill>
              <a:srgbClr val="FF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45552" y="4184294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dist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3035808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Point(3,4)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圖論 networkx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NODE · EDGE · WEIGHT · DEGREE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PY11_地理空間與圖論.ipynb · 圖論建模 networkx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C79BFF"/>
                </a:solidFill>
                <a:latin typeface="Consolas"/>
                <a:ea typeface="Microsoft JhengHei"/>
                <a:cs typeface="Microsoft JhengHei"/>
              </a:rPr>
              <a:t>import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networkx as nx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edges = [("A","B",5),("A","C",8),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("B","C",3),("C","D",6),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("D","E",2),("C","E",9)]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G = nx.Graph()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for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a, b, w </a:t>
            </a: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in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edges: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G.add_edge(a, b, weight=w)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dict(G.degree())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196328" y="3401568"/>
            <a:ext cx="731520" cy="1188720"/>
          </a:xfrm>
          <a:prstGeom prst="line">
            <a:avLst/>
          </a:prstGeom>
          <a:ln w="25400">
            <a:solidFill>
              <a:srgbClr val="9AA4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62088" y="3794759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27848" y="3401568"/>
            <a:ext cx="1097280" cy="1005840"/>
          </a:xfrm>
          <a:prstGeom prst="line">
            <a:avLst/>
          </a:prstGeom>
          <a:ln w="25400">
            <a:solidFill>
              <a:srgbClr val="9AA4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76488" y="3703320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7196328" y="4407408"/>
            <a:ext cx="1828800" cy="182880"/>
          </a:xfrm>
          <a:prstGeom prst="line">
            <a:avLst/>
          </a:prstGeom>
          <a:ln w="25400">
            <a:solidFill>
              <a:srgbClr val="9AA4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10728" y="4297679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9025128" y="3950208"/>
            <a:ext cx="1554480" cy="457200"/>
          </a:xfrm>
          <a:prstGeom prst="line">
            <a:avLst/>
          </a:prstGeom>
          <a:ln w="25400">
            <a:solidFill>
              <a:srgbClr val="9AA4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802368" y="3977639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0396728" y="3950208"/>
            <a:ext cx="182880" cy="1463040"/>
          </a:xfrm>
          <a:prstGeom prst="line">
            <a:avLst/>
          </a:prstGeom>
          <a:ln w="25400">
            <a:solidFill>
              <a:srgbClr val="9AA4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488168" y="4480559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25128" y="4407408"/>
            <a:ext cx="1371600" cy="1005840"/>
          </a:xfrm>
          <a:prstGeom prst="line">
            <a:avLst/>
          </a:prstGeom>
          <a:ln w="25400">
            <a:solidFill>
              <a:srgbClr val="9AA4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710928" y="4709159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3108960"/>
            <a:ext cx="585216" cy="585216"/>
          </a:xfrm>
          <a:prstGeom prst="ellipse">
            <a:avLst/>
          </a:prstGeom>
          <a:solidFill>
            <a:srgbClr val="12253C"/>
          </a:solidFill>
          <a:ln w="3175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28" name="Oval 27"/>
          <p:cNvSpPr/>
          <p:nvPr/>
        </p:nvSpPr>
        <p:spPr>
          <a:xfrm>
            <a:off x="6903720" y="4297680"/>
            <a:ext cx="585216" cy="585216"/>
          </a:xfrm>
          <a:prstGeom prst="ellipse">
            <a:avLst/>
          </a:prstGeom>
          <a:solidFill>
            <a:srgbClr val="12253C"/>
          </a:solidFill>
          <a:ln w="3175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29" name="Oval 28"/>
          <p:cNvSpPr/>
          <p:nvPr/>
        </p:nvSpPr>
        <p:spPr>
          <a:xfrm>
            <a:off x="8732520" y="4114800"/>
            <a:ext cx="585216" cy="585216"/>
          </a:xfrm>
          <a:prstGeom prst="ellipse">
            <a:avLst/>
          </a:prstGeom>
          <a:solidFill>
            <a:srgbClr val="12253C"/>
          </a:solidFill>
          <a:ln w="3175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30" name="Oval 29"/>
          <p:cNvSpPr/>
          <p:nvPr/>
        </p:nvSpPr>
        <p:spPr>
          <a:xfrm>
            <a:off x="10287000" y="3657600"/>
            <a:ext cx="585216" cy="585216"/>
          </a:xfrm>
          <a:prstGeom prst="ellipse">
            <a:avLst/>
          </a:prstGeom>
          <a:solidFill>
            <a:srgbClr val="12253C"/>
          </a:solidFill>
          <a:ln w="3175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31" name="Oval 30"/>
          <p:cNvSpPr/>
          <p:nvPr/>
        </p:nvSpPr>
        <p:spPr>
          <a:xfrm>
            <a:off x="10104120" y="5120640"/>
            <a:ext cx="585216" cy="585216"/>
          </a:xfrm>
          <a:prstGeom prst="ellipse">
            <a:avLst/>
          </a:prstGeom>
          <a:solidFill>
            <a:srgbClr val="12253C"/>
          </a:solidFill>
          <a:ln w="3175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760720"/>
            <a:ext cx="52120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中心性＝關鍵節點（橋樑）；社群＝小圈圈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2630</Words>
  <Application>Microsoft Office PowerPoint</Application>
  <PresentationFormat>寬螢幕</PresentationFormat>
  <Paragraphs>509</Paragraphs>
  <Slides>25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1" baseType="lpstr">
      <vt:lpstr>Microsoft JhengHei</vt:lpstr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scott lu</cp:lastModifiedBy>
  <cp:revision>12</cp:revision>
  <dcterms:created xsi:type="dcterms:W3CDTF">2013-01-27T09:14:16Z</dcterms:created>
  <dcterms:modified xsi:type="dcterms:W3CDTF">2026-06-28T02:57:49Z</dcterms:modified>
  <cp:category/>
</cp:coreProperties>
</file>