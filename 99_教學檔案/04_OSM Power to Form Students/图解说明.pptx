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69" r:id="rId4"/>
    <p:sldId id="257" r:id="rId5"/>
    <p:sldId id="26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94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2011680"/>
            <a:ext cx="1828800" cy="54864"/>
          </a:xfrm>
          <a:prstGeom prst="rect">
            <a:avLst/>
          </a:prstGeom>
          <a:solidFill>
            <a:srgbClr val="5A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OSM 权力到形态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看权力如何改写城市天际线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1480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真实 OSM 建筑 · 贴角色 · 只调高度 · 看天际线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样本：新加坡大巴窑 1163 栋 · 离线可跑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OSM 权力到形态 · 图解说明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182E73F-8A21-41C9-AC16-7822665E1CA6}"/>
              </a:ext>
            </a:extLst>
          </p:cNvPr>
          <p:cNvSpPr txBox="1"/>
          <p:nvPr/>
        </p:nvSpPr>
        <p:spPr>
          <a:xfrm>
            <a:off x="807633" y="2950001"/>
            <a:ext cx="16562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GH </a:t>
            </a:r>
            <a:r>
              <a:rPr lang="en-US" altLang="zh-TW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osm</a:t>
            </a:r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endParaRPr lang="en-US" altLang="zh-TW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GH </a:t>
            </a:r>
            <a:r>
              <a:rPr lang="en-US" altLang="zh-TW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osm</a:t>
            </a:r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local</a:t>
            </a:r>
          </a:p>
          <a:p>
            <a:endParaRPr lang="en-US" altLang="zh-TW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38F00E3-3C82-46A0-AE71-23F6422BA729}"/>
              </a:ext>
            </a:extLst>
          </p:cNvPr>
          <p:cNvSpPr txBox="1"/>
          <p:nvPr/>
        </p:nvSpPr>
        <p:spPr>
          <a:xfrm>
            <a:off x="9594115" y="2950001"/>
            <a:ext cx="16802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Color preview</a:t>
            </a:r>
          </a:p>
          <a:p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GH animate</a:t>
            </a:r>
          </a:p>
          <a:p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118A83F-94D8-4A6C-ADCE-DF8780A4794F}"/>
              </a:ext>
            </a:extLst>
          </p:cNvPr>
          <p:cNvSpPr/>
          <p:nvPr/>
        </p:nvSpPr>
        <p:spPr>
          <a:xfrm>
            <a:off x="843251" y="1684919"/>
            <a:ext cx="1584989" cy="90424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城市資料讀取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A69D54E-D118-4643-BEFA-A7860FED4314}"/>
              </a:ext>
            </a:extLst>
          </p:cNvPr>
          <p:cNvSpPr/>
          <p:nvPr/>
        </p:nvSpPr>
        <p:spPr>
          <a:xfrm>
            <a:off x="7464761" y="1684919"/>
            <a:ext cx="1463040" cy="904240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生成新城市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C4758C9-A805-4D96-9A29-566386DFC915}"/>
              </a:ext>
            </a:extLst>
          </p:cNvPr>
          <p:cNvSpPr/>
          <p:nvPr/>
        </p:nvSpPr>
        <p:spPr>
          <a:xfrm>
            <a:off x="3131720" y="1684919"/>
            <a:ext cx="1463040" cy="90424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資料編碼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C65D037-2199-4C06-9DB0-B4ADB6C22B39}"/>
              </a:ext>
            </a:extLst>
          </p:cNvPr>
          <p:cNvSpPr/>
          <p:nvPr/>
        </p:nvSpPr>
        <p:spPr>
          <a:xfrm>
            <a:off x="9631282" y="1684919"/>
            <a:ext cx="1463040" cy="904240"/>
          </a:xfrm>
          <a:prstGeom prst="rect">
            <a:avLst/>
          </a:prstGeom>
          <a:solidFill>
            <a:srgbClr val="322910"/>
          </a:solidFill>
          <a:ln w="15875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後續导出</a:t>
            </a:r>
            <a:endParaRPr lang="en-US" altLang="zh-TW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可視化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C743694-911E-42B6-BDC9-3A16071848AF}"/>
              </a:ext>
            </a:extLst>
          </p:cNvPr>
          <p:cNvSpPr/>
          <p:nvPr/>
        </p:nvSpPr>
        <p:spPr>
          <a:xfrm>
            <a:off x="5298240" y="1684919"/>
            <a:ext cx="1463040" cy="9042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5875"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權力重分配</a:t>
            </a: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256ACBCC-2124-4E9E-AEF4-39E5012ABE3B}"/>
              </a:ext>
            </a:extLst>
          </p:cNvPr>
          <p:cNvCxnSpPr>
            <a:stCxn id="18" idx="3"/>
            <a:endCxn id="20" idx="1"/>
          </p:cNvCxnSpPr>
          <p:nvPr/>
        </p:nvCxnSpPr>
        <p:spPr>
          <a:xfrm>
            <a:off x="2428240" y="2137039"/>
            <a:ext cx="703480" cy="0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118AECBA-3B7E-4462-AC32-5091DC6FE71A}"/>
              </a:ext>
            </a:extLst>
          </p:cNvPr>
          <p:cNvCxnSpPr>
            <a:stCxn id="20" idx="3"/>
            <a:endCxn id="23" idx="1"/>
          </p:cNvCxnSpPr>
          <p:nvPr/>
        </p:nvCxnSpPr>
        <p:spPr>
          <a:xfrm>
            <a:off x="4594760" y="2137039"/>
            <a:ext cx="703480" cy="0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0F7357E4-749E-4A99-B1A1-59E84039DD1A}"/>
              </a:ext>
            </a:extLst>
          </p:cNvPr>
          <p:cNvCxnSpPr>
            <a:stCxn id="23" idx="3"/>
            <a:endCxn id="19" idx="1"/>
          </p:cNvCxnSpPr>
          <p:nvPr/>
        </p:nvCxnSpPr>
        <p:spPr>
          <a:xfrm>
            <a:off x="6761280" y="2137039"/>
            <a:ext cx="703481" cy="0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72658D94-56F3-490D-9539-96B578B4C134}"/>
              </a:ext>
            </a:extLst>
          </p:cNvPr>
          <p:cNvCxnSpPr>
            <a:stCxn id="19" idx="3"/>
            <a:endCxn id="21" idx="1"/>
          </p:cNvCxnSpPr>
          <p:nvPr/>
        </p:nvCxnSpPr>
        <p:spPr>
          <a:xfrm>
            <a:off x="8927801" y="2137039"/>
            <a:ext cx="703481" cy="0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159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182E73F-8A21-41C9-AC16-7822665E1CA6}"/>
              </a:ext>
            </a:extLst>
          </p:cNvPr>
          <p:cNvSpPr txBox="1"/>
          <p:nvPr/>
        </p:nvSpPr>
        <p:spPr>
          <a:xfrm>
            <a:off x="807633" y="2950001"/>
            <a:ext cx="161775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GH </a:t>
            </a:r>
            <a:r>
              <a:rPr lang="en-US" altLang="zh-TW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osm</a:t>
            </a:r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endParaRPr lang="en-US" altLang="zh-TW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GH </a:t>
            </a:r>
            <a:r>
              <a:rPr lang="en-US" altLang="zh-TW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osm</a:t>
            </a:r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local</a:t>
            </a:r>
          </a:p>
          <a:p>
            <a:endParaRPr lang="en-US" altLang="zh-TW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Building csv</a:t>
            </a:r>
          </a:p>
          <a:p>
            <a:endParaRPr lang="en-US" altLang="zh-TW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上海數據</a:t>
            </a:r>
            <a:endParaRPr lang="en-US" altLang="zh-TW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38F00E3-3C82-46A0-AE71-23F6422BA729}"/>
              </a:ext>
            </a:extLst>
          </p:cNvPr>
          <p:cNvSpPr txBox="1"/>
          <p:nvPr/>
        </p:nvSpPr>
        <p:spPr>
          <a:xfrm>
            <a:off x="9594115" y="2950001"/>
            <a:ext cx="168020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Color preview</a:t>
            </a:r>
          </a:p>
          <a:p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GH animate</a:t>
            </a:r>
          </a:p>
          <a:p>
            <a:endParaRPr lang="en-US" altLang="zh-TW" dirty="0">
              <a:solidFill>
                <a:srgbClr val="00B0F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solidFill>
                <a:srgbClr val="00B0F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 err="1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Py</a:t>
            </a:r>
            <a:r>
              <a:rPr lang="en-US" altLang="zh-TW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png</a:t>
            </a:r>
            <a:r>
              <a:rPr lang="en-US" altLang="zh-TW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118A83F-94D8-4A6C-ADCE-DF8780A4794F}"/>
              </a:ext>
            </a:extLst>
          </p:cNvPr>
          <p:cNvSpPr/>
          <p:nvPr/>
        </p:nvSpPr>
        <p:spPr>
          <a:xfrm>
            <a:off x="843251" y="1684919"/>
            <a:ext cx="1584989" cy="904240"/>
          </a:xfrm>
          <a:prstGeom prst="rect">
            <a:avLst/>
          </a:prstGeom>
          <a:solidFill>
            <a:srgbClr val="241634"/>
          </a:solidFill>
          <a:ln w="15875">
            <a:solidFill>
              <a:srgbClr val="C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城市資料讀取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A69D54E-D118-4643-BEFA-A7860FED4314}"/>
              </a:ext>
            </a:extLst>
          </p:cNvPr>
          <p:cNvSpPr/>
          <p:nvPr/>
        </p:nvSpPr>
        <p:spPr>
          <a:xfrm>
            <a:off x="7464761" y="1684919"/>
            <a:ext cx="1463040" cy="904240"/>
          </a:xfrm>
          <a:prstGeom prst="rect">
            <a:avLst/>
          </a:prstGeom>
          <a:solidFill>
            <a:srgbClr val="10301A"/>
          </a:solidFill>
          <a:ln w="15875">
            <a:solidFill>
              <a:srgbClr val="6FE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生成新城市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C4758C9-A805-4D96-9A29-566386DFC915}"/>
              </a:ext>
            </a:extLst>
          </p:cNvPr>
          <p:cNvSpPr/>
          <p:nvPr/>
        </p:nvSpPr>
        <p:spPr>
          <a:xfrm>
            <a:off x="3131720" y="1684919"/>
            <a:ext cx="1463040" cy="904240"/>
          </a:xfrm>
          <a:prstGeom prst="rect">
            <a:avLst/>
          </a:prstGeom>
          <a:solidFill>
            <a:srgbClr val="12253C"/>
          </a:solidFill>
          <a:ln w="15875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資料編碼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C65D037-2199-4C06-9DB0-B4ADB6C22B39}"/>
              </a:ext>
            </a:extLst>
          </p:cNvPr>
          <p:cNvSpPr/>
          <p:nvPr/>
        </p:nvSpPr>
        <p:spPr>
          <a:xfrm>
            <a:off x="9631282" y="1684919"/>
            <a:ext cx="1463040" cy="904240"/>
          </a:xfrm>
          <a:prstGeom prst="rect">
            <a:avLst/>
          </a:prstGeom>
          <a:solidFill>
            <a:srgbClr val="322910"/>
          </a:solidFill>
          <a:ln w="15875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後續导出</a:t>
            </a:r>
            <a:endParaRPr lang="en-US" altLang="zh-TW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可視化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C743694-911E-42B6-BDC9-3A16071848AF}"/>
              </a:ext>
            </a:extLst>
          </p:cNvPr>
          <p:cNvSpPr/>
          <p:nvPr/>
        </p:nvSpPr>
        <p:spPr>
          <a:xfrm>
            <a:off x="5298240" y="1684919"/>
            <a:ext cx="1463040" cy="9042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5875"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權力重分配</a:t>
            </a: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256ACBCC-2124-4E9E-AEF4-39E5012ABE3B}"/>
              </a:ext>
            </a:extLst>
          </p:cNvPr>
          <p:cNvCxnSpPr>
            <a:stCxn id="18" idx="3"/>
            <a:endCxn id="20" idx="1"/>
          </p:cNvCxnSpPr>
          <p:nvPr/>
        </p:nvCxnSpPr>
        <p:spPr>
          <a:xfrm>
            <a:off x="2428240" y="2137039"/>
            <a:ext cx="703480" cy="0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118AECBA-3B7E-4462-AC32-5091DC6FE71A}"/>
              </a:ext>
            </a:extLst>
          </p:cNvPr>
          <p:cNvCxnSpPr>
            <a:stCxn id="20" idx="3"/>
            <a:endCxn id="23" idx="1"/>
          </p:cNvCxnSpPr>
          <p:nvPr/>
        </p:nvCxnSpPr>
        <p:spPr>
          <a:xfrm>
            <a:off x="4594760" y="2137039"/>
            <a:ext cx="703480" cy="0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0F7357E4-749E-4A99-B1A1-59E84039DD1A}"/>
              </a:ext>
            </a:extLst>
          </p:cNvPr>
          <p:cNvCxnSpPr>
            <a:stCxn id="23" idx="3"/>
            <a:endCxn id="19" idx="1"/>
          </p:cNvCxnSpPr>
          <p:nvPr/>
        </p:nvCxnSpPr>
        <p:spPr>
          <a:xfrm>
            <a:off x="6761280" y="2137039"/>
            <a:ext cx="703481" cy="0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72658D94-56F3-490D-9539-96B578B4C134}"/>
              </a:ext>
            </a:extLst>
          </p:cNvPr>
          <p:cNvCxnSpPr>
            <a:stCxn id="19" idx="3"/>
            <a:endCxn id="21" idx="1"/>
          </p:cNvCxnSpPr>
          <p:nvPr/>
        </p:nvCxnSpPr>
        <p:spPr>
          <a:xfrm>
            <a:off x="8927801" y="2137039"/>
            <a:ext cx="703481" cy="0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D19D070-6C2D-40C3-BCCE-02025C7EFD11}"/>
              </a:ext>
            </a:extLst>
          </p:cNvPr>
          <p:cNvSpPr txBox="1"/>
          <p:nvPr/>
        </p:nvSpPr>
        <p:spPr>
          <a:xfrm>
            <a:off x="2994473" y="2979508"/>
            <a:ext cx="239546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TW" dirty="0">
              <a:solidFill>
                <a:srgbClr val="00B0F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solidFill>
                <a:srgbClr val="00B0F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solidFill>
                <a:srgbClr val="00B0F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solidFill>
                <a:srgbClr val="00B0F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Lookup table</a:t>
            </a:r>
          </a:p>
          <a:p>
            <a:endParaRPr lang="en-US" altLang="zh-TW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PCA</a:t>
            </a:r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統計編碼</a:t>
            </a:r>
            <a:endParaRPr lang="en-US" altLang="zh-TW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AE</a:t>
            </a:r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VAE</a:t>
            </a:r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深度學習編碼</a:t>
            </a:r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D7BA9D75-2A0D-4EE5-AE42-3EF3BDE15EEA}"/>
              </a:ext>
            </a:extLst>
          </p:cNvPr>
          <p:cNvSpPr txBox="1"/>
          <p:nvPr/>
        </p:nvSpPr>
        <p:spPr>
          <a:xfrm>
            <a:off x="7310150" y="2931627"/>
            <a:ext cx="187609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TW" dirty="0">
              <a:solidFill>
                <a:srgbClr val="00B0F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solidFill>
                <a:srgbClr val="00B0F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solidFill>
                <a:srgbClr val="00B0F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solidFill>
                <a:srgbClr val="00B0F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Lookup search</a:t>
            </a:r>
          </a:p>
          <a:p>
            <a:endParaRPr lang="en-US" altLang="zh-TW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PCA</a:t>
            </a:r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採樣生成</a:t>
            </a:r>
            <a:endParaRPr lang="en-US" altLang="zh-TW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AE</a:t>
            </a:r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VAE</a:t>
            </a:r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採樣生成</a:t>
            </a:r>
          </a:p>
        </p:txBody>
      </p:sp>
    </p:spTree>
    <p:extLst>
      <p:ext uri="{BB962C8B-B14F-4D97-AF65-F5344CB8AC3E}">
        <p14:creationId xmlns:p14="http://schemas.microsoft.com/office/powerpoint/2010/main" val="4106481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900" b="1" dirty="0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5 steps</a:t>
            </a:r>
            <a:endParaRPr sz="2900" b="1" dirty="0">
              <a:solidFill>
                <a:srgbClr val="F2F5F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5A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WHAT IT IS</a:t>
            </a:r>
          </a:p>
        </p:txBody>
      </p:sp>
      <p:pic>
        <p:nvPicPr>
          <p:cNvPr id="6" name="Picture 5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40453"/>
            <a:ext cx="10881360" cy="25198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029200"/>
            <a:ext cx="10881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真实建筑 → 贴角色 → 切权力情景（只改高度）→ 看天际线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方向单向：由权力推导形态，不从形状反推身份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OSM 权力到形态 · 图解说明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40453"/>
            <a:ext cx="10881360" cy="251989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245241B-F157-40CD-A4DB-440B856399A7}"/>
              </a:ext>
            </a:extLst>
          </p:cNvPr>
          <p:cNvSpPr txBox="1"/>
          <p:nvPr/>
        </p:nvSpPr>
        <p:spPr>
          <a:xfrm>
            <a:off x="1150621" y="207572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城市資料讀取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E1B3829-C937-445E-AEA0-C27C0CB37052}"/>
              </a:ext>
            </a:extLst>
          </p:cNvPr>
          <p:cNvSpPr txBox="1"/>
          <p:nvPr/>
        </p:nvSpPr>
        <p:spPr>
          <a:xfrm>
            <a:off x="3484812" y="208230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資料編碼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10BDEF2-1FC1-4D84-9868-C16A970374C4}"/>
              </a:ext>
            </a:extLst>
          </p:cNvPr>
          <p:cNvSpPr txBox="1"/>
          <p:nvPr/>
        </p:nvSpPr>
        <p:spPr>
          <a:xfrm>
            <a:off x="5357339" y="209954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權力重分配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7B86E00-35BF-41F1-8F3A-D1B26C435119}"/>
              </a:ext>
            </a:extLst>
          </p:cNvPr>
          <p:cNvSpPr txBox="1"/>
          <p:nvPr/>
        </p:nvSpPr>
        <p:spPr>
          <a:xfrm>
            <a:off x="7460698" y="209954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生成新城市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B3004F4-7AA4-4C2A-B1CB-7E9C058CB826}"/>
              </a:ext>
            </a:extLst>
          </p:cNvPr>
          <p:cNvSpPr txBox="1"/>
          <p:nvPr/>
        </p:nvSpPr>
        <p:spPr>
          <a:xfrm>
            <a:off x="9564057" y="2099548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後續导出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可視化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182E73F-8A21-41C9-AC16-7822665E1CA6}"/>
              </a:ext>
            </a:extLst>
          </p:cNvPr>
          <p:cNvSpPr txBox="1"/>
          <p:nvPr/>
        </p:nvSpPr>
        <p:spPr>
          <a:xfrm>
            <a:off x="1064058" y="4065008"/>
            <a:ext cx="161775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GH </a:t>
            </a:r>
            <a:r>
              <a:rPr lang="en-US" altLang="zh-TW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osm</a:t>
            </a:r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endParaRPr lang="en-US" altLang="zh-TW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GH </a:t>
            </a:r>
            <a:r>
              <a:rPr lang="en-US" altLang="zh-TW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osm</a:t>
            </a:r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local</a:t>
            </a:r>
          </a:p>
          <a:p>
            <a:endParaRPr lang="en-US" altLang="zh-TW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Building csv</a:t>
            </a:r>
          </a:p>
          <a:p>
            <a:endParaRPr lang="en-US" altLang="zh-TW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上海資料集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38F00E3-3C82-46A0-AE71-23F6422BA729}"/>
              </a:ext>
            </a:extLst>
          </p:cNvPr>
          <p:cNvSpPr txBox="1"/>
          <p:nvPr/>
        </p:nvSpPr>
        <p:spPr>
          <a:xfrm>
            <a:off x="9499457" y="4108105"/>
            <a:ext cx="1726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Color preview</a:t>
            </a:r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25447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什么是占地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6FE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FOOTPRINT</a:t>
            </a:r>
          </a:p>
        </p:txBody>
      </p:sp>
      <p:pic>
        <p:nvPicPr>
          <p:cNvPr id="6" name="Picture 5" descr="footprint_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943" y="1554480"/>
            <a:ext cx="4976432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173736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占地：从空中俯视，一栋楼盖住的那块地的轮廓。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这里先不上色，看清原始的一批真实建筑。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样本：新加坡大巴窑，1163 栋。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占地固定不动；后面只让高度变化。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OSM 权力到形态 · 图解说明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四个角色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FOUR STAKEHOLDERS</a:t>
            </a:r>
          </a:p>
        </p:txBody>
      </p:sp>
      <p:pic>
        <p:nvPicPr>
          <p:cNvPr id="6" name="Picture 5" descr="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943" y="1554480"/>
            <a:ext cx="4976432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173736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按一张对照表，给每栋楼贴一个角色。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政府公共 / 开发商 / 居民 / 在地非正式。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看不出用途的标为 unknown，不猜测。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靠查表，不是 AI 推断。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OSM 权力到形态 · 图解说明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各角色的规模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4F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WHO HOLDS WHAT</a:t>
            </a:r>
          </a:p>
        </p:txBody>
      </p:sp>
      <p:pic>
        <p:nvPicPr>
          <p:cNvPr id="6" name="Picture 5" descr="stakeholder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648" y="1508760"/>
            <a:ext cx="7476223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029200"/>
            <a:ext cx="10881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左：每个角色有多少栋。右：各占多少面积。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这是改高度之前的起点。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OSM 权力到形态 · 图解说明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两个可改的设定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C7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TWO KNOBS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只有两个文件可以改，用记事本就能打开：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stakeholder_lookup.yaml：哪种建筑算哪个角色（改完重跑 Step 2）。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power_scenarios.yaml：每个角色的高度政策 mult / cap_m（改完重跑 Step 3、4）。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其余固定不变；改的只有高度。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OSM 权力到形态 · 图解说明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两种模式：守恒与增长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CONSERVE vs GROW</a:t>
            </a:r>
          </a:p>
        </p:txBody>
      </p:sp>
      <p:pic>
        <p:nvPicPr>
          <p:cNvPr id="6" name="Picture 5" descr="c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824" y="1508760"/>
            <a:ext cx="7507871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029200"/>
            <a:ext cx="10881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守恒：像一块蛋糕重新切，总量不变，只是谁分得多。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增长：在原有楼上加盖，总建筑量变多。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OSM 权力到形态 · 图解说明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权力情景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5A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POWER SCENARIOS</a:t>
            </a:r>
          </a:p>
        </p:txBody>
      </p:sp>
      <p:pic>
        <p:nvPicPr>
          <p:cNvPr id="6" name="Picture 5" descr="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360" y="1508760"/>
            <a:ext cx="5892800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029200"/>
            <a:ext cx="10881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每个情景给各角色一个高度乘数：红=拔高，蓝=压低。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后面所有形态差异，都来自这张表。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OSM 权力到形态 · 图解说明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套用情景，看天际线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6FE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APPLY &amp; COMPARE</a:t>
            </a:r>
          </a:p>
        </p:txBody>
      </p:sp>
      <p:pic>
        <p:nvPicPr>
          <p:cNvPr id="6" name="Picture 5" descr="sky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846" y="1554480"/>
            <a:ext cx="4572626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173736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同一批楼，同样的占地和标签，分别套四个情景。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颜色代表高度，由低到高。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差异完全来自不同情景给各角色的权力。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OSM 权力到形态 · 图解说明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变成 3D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3D MASSING</a:t>
            </a:r>
          </a:p>
        </p:txBody>
      </p:sp>
      <p:pic>
        <p:nvPicPr>
          <p:cNvPr id="6" name="Picture 5" descr="massing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554480"/>
            <a:ext cx="448056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173736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把占地按高度挤成立体量体，按角色上色。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可在页面里看，或导出给 Rhino / Blender。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导出不改占地，只改高度。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OSM 权力到形态 · 图解说明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动手做与边界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4F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YOUR 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改一个设定 → 重跑对应步骤 → 看天际线变化。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例：把某角色的 mult 调大，重跑 Step 4，看它的平均高度。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高度多为估算；unknown 不猜测；方向单向。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这是教学练习，不是产权认定，也不是规划预测。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OSM 权力到形态 · 图解说明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420</Words>
  <Application>Microsoft Office PowerPoint</Application>
  <PresentationFormat>寬螢幕</PresentationFormat>
  <Paragraphs>138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微軟正黑體</vt:lpstr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scott lu</cp:lastModifiedBy>
  <cp:revision>4</cp:revision>
  <dcterms:created xsi:type="dcterms:W3CDTF">2013-01-27T09:14:16Z</dcterms:created>
  <dcterms:modified xsi:type="dcterms:W3CDTF">2026-06-29T22:34:47Z</dcterms:modified>
  <cp:category/>
</cp:coreProperties>
</file>